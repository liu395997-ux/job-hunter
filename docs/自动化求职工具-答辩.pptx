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567562675355238"/>
          <c:y val="2.2720409948756411E-2"/>
          <c:w val="0.88432437324644764"/>
          <c:h val="0.90206574178227716"/>
        </c:manualLayout>
      </c:layout>
      <c:barChart>
        <c:barDir val="col"/>
        <c:grouping val="clustered"/>
        <c:varyColors val="0"/>
        <c:ser>
          <c:idx val="0"/>
          <c:order val="0"/>
          <c:tx>
            <c:v>出现次数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sql</c:v>
              </c:pt>
              <c:pt idx="1">
                <c:v>python</c:v>
              </c:pt>
              <c:pt idx="2">
                <c:v>excel</c:v>
              </c:pt>
              <c:pt idx="3">
                <c:v>数据可视化</c:v>
              </c:pt>
              <c:pt idx="4">
                <c:v>机器学习</c:v>
              </c:pt>
              <c:pt idx="5">
                <c:v>spark</c:v>
              </c:pt>
              <c:pt idx="6">
                <c:v>linux</c:v>
              </c:pt>
              <c:pt idx="7">
                <c:v>etl</c:v>
              </c:pt>
              <c:pt idx="8">
                <c:v>nlp</c:v>
              </c:pt>
              <c:pt idx="9">
                <c:v>pandas</c:v>
              </c:pt>
            </c:strLit>
          </c:cat>
          <c:val>
            <c:numLit>
              <c:formatCode>General</c:formatCode>
              <c:ptCount val="10"/>
              <c:pt idx="0">
                <c:v>197</c:v>
              </c:pt>
              <c:pt idx="1">
                <c:v>168</c:v>
              </c:pt>
              <c:pt idx="2">
                <c:v>101</c:v>
              </c:pt>
              <c:pt idx="3">
                <c:v>100</c:v>
              </c:pt>
              <c:pt idx="4">
                <c:v>76</c:v>
              </c:pt>
              <c:pt idx="5">
                <c:v>67</c:v>
              </c:pt>
              <c:pt idx="6">
                <c:v>66</c:v>
              </c:pt>
              <c:pt idx="7">
                <c:v>56</c:v>
              </c:pt>
              <c:pt idx="8">
                <c:v>55</c:v>
              </c:pt>
              <c:pt idx="9">
                <c:v>52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384-4D7E-8E0C-869DC38762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2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重要性</c:v>
          </c:tx>
          <c:spPr>
            <a:solidFill>
              <a:srgbClr val="6DCB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经验</c:v>
              </c:pt>
              <c:pt idx="1">
                <c:v>城市</c:v>
              </c:pt>
              <c:pt idx="2">
                <c:v>学历</c:v>
              </c:pt>
              <c:pt idx="3">
                <c:v>公司规模</c:v>
              </c:pt>
              <c:pt idx="4">
                <c:v>技能数量</c:v>
              </c:pt>
            </c:strLit>
          </c:cat>
          <c:val>
            <c:numLit>
              <c:formatCode>General</c:formatCode>
              <c:ptCount val="5"/>
              <c:pt idx="0">
                <c:v>0.51600000000000001</c:v>
              </c:pt>
              <c:pt idx="1">
                <c:v>0.20799999999999999</c:v>
              </c:pt>
              <c:pt idx="2">
                <c:v>0.19</c:v>
              </c:pt>
              <c:pt idx="3">
                <c:v>8.6999999999999994E-2</c:v>
              </c:pt>
              <c:pt idx="4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73-44AF-AB80-02E7BD1F65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6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zh-CN"/>
          </a:p>
        </c:txPr>
        <c:crossAx val="48650112"/>
        <c:crosses val="autoZero"/>
        <c:crossBetween val="between"/>
        <c:majorUnit val="0.1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开场：一句话说明我们做了一个面向学生的自动化求职工具，从职位采集、清洗、分析到个性化推荐和自动报告，形成闭环。右侧词云来自项目真实数据。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说明课程要求（Web 项目、3 个以上算法、爬取清洗、可视化、AI 工具使用）如何落到本项目上。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按数据流顺序介绍五层架构：采集、数据、算法、展示、自动化。强调每层职责单一、可独立替换。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重点讲踩坑：智联接口 TCP 可达、HTTP 200，但返回空结果集（numFound=999999，results=[]），尝试 UA/Referer/Cookie 均无效，判定为 IP 风控或签名参数。我们把它记录成文档，并设计自动降级，演示链路不受影响。</a:t>
            </a:r>
          </a:p>
          <a:p>
            <a:r>
              <a:t>[Sources] 实测过程见 docs/爬虫调研与反爬笔记.md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数据字段对齐课程‘数据管理’要求：CSV</a:t>
            </a:r>
            <a:r>
              <a:rPr dirty="0"/>
              <a:t>/SQLite </a:t>
            </a:r>
            <a:r>
              <a:rPr dirty="0" err="1"/>
              <a:t>双向存取，质量报告可审计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四个算法对应课程‘至少三个不同类型算法’要求，每个算法都有评估指标与可视化页面。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现场可以演示‘我的匹配’页：修改技能或城市，推荐列表和匹配度实时变化。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强调结果可解释：经验、城市、学历是主要影响因素；模型指标在验证集上计算。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聚类用轮廓系数选 k；技能图谱同时给出词云与共现网络两种视角。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现场演示：streamlit run streamlit_app.py，依次走四个页面，5 分钟内可讲完。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自动化是题目的创新点；当前以样例数据跑通全链路，APScheduler 计划接入。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分工与课程‘团队分工与任务’要求一致；答辩时每位成员讲自己负责的部分。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展示过程管理：里程碑对应课程检查点；AI 使用记录本身就是课程考核项。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用可运行的成果收尾：测试、算法、数据、指标都是真实的；展望聚焦真实数据接入与自动日报。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每位成员按角色演示自己的模块：数据搜集、清洗、管理、分析、可视化、Web 前端。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eyebrow">
            <a:extLst>
              <a:ext uri="{FF2B5EF4-FFF2-40B4-BE49-F238E27FC236}">
                <a16:creationId xmlns:a16="http://schemas.microsoft.com/office/drawing/2014/main" id="{A4BA4FE5-ED81-4863-A6DE-C19744D2314E}"/>
              </a:ext>
            </a:extLst>
          </p:cNvPr>
          <p:cNvSpPr>
            <a:spLocks noGrp="1"/>
          </p:cNvSpPr>
          <p:nvPr/>
        </p:nvSpPr>
        <p:spPr>
          <a:xfrm>
            <a:off x="457200" y="495300"/>
            <a:ext cx="11734800" cy="6362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短学期课程项目 · 期末答辩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02065875-0CFD-4CA6-B648-5E97CE4FEFFA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11734800" cy="5143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B5E54289-DEA4-40DC-8FD6-A161B780260B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117348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招聘数据采集 · 清洗分析 · 个性化推荐 · 自动报告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5DACFC16-1910-45BC-A773-B1E46983FBD1}"/>
              </a:ext>
            </a:extLst>
          </p:cNvPr>
          <p:cNvSpPr>
            <a:spLocks noGrp="1"/>
          </p:cNvSpPr>
          <p:nvPr/>
        </p:nvSpPr>
        <p:spPr>
          <a:xfrm>
            <a:off x="457200" y="4381500"/>
            <a:ext cx="11734800" cy="2476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小组：自动化求职小组（5 人）
课程：Python 数据分析与可视化 · 2026-09</a:t>
            </a:r>
          </a:p>
        </p:txBody>
      </p:sp>
      <p:sp>
        <p:nvSpPr>
          <p:cNvPr id="5" name="cover-image-backing">
            <a:extLst>
              <a:ext uri="{FF2B5EF4-FFF2-40B4-BE49-F238E27FC236}">
                <a16:creationId xmlns:a16="http://schemas.microsoft.com/office/drawing/2014/main" id="{F927CA2F-430C-409F-B244-52338EA9966E}"/>
              </a:ext>
            </a:extLst>
          </p:cNvPr>
          <p:cNvSpPr>
            <a:spLocks noGrp="1"/>
          </p:cNvSpPr>
          <p:nvPr/>
        </p:nvSpPr>
        <p:spPr>
          <a:xfrm>
            <a:off x="6248400" y="4953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ule-48-640">
            <a:extLst>
              <a:ext uri="{FF2B5EF4-FFF2-40B4-BE49-F238E27FC236}">
                <a16:creationId xmlns:a16="http://schemas.microsoft.com/office/drawing/2014/main" id="{444D1960-9134-472A-9EDB-92C06F8771DC}"/>
              </a:ext>
            </a:extLst>
          </p:cNvPr>
          <p:cNvSpPr>
            <a:spLocks noGrp="1"/>
          </p:cNvSpPr>
          <p:nvPr/>
        </p:nvSpPr>
        <p:spPr>
          <a:xfrm>
            <a:off x="457200" y="60960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7" name="footer-left">
            <a:extLst>
              <a:ext uri="{FF2B5EF4-FFF2-40B4-BE49-F238E27FC236}">
                <a16:creationId xmlns:a16="http://schemas.microsoft.com/office/drawing/2014/main" id="{1DF62677-B70A-4663-B92A-11192D482072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C92F08DD-0641-448F-ADE6-FAB17C8A9812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0" y="1810328"/>
            <a:ext cx="5434393" cy="3190298"/>
          </a:xfrm>
          <a:prstGeom prst="roundRect">
            <a:avLst>
              <a:gd name="adj" fmla="val 1667"/>
            </a:avLst>
          </a:prstGeom>
        </p:spPr>
      </p:pic>
    </p:spTree>
    <p:extLst>
      <p:ext uri="{BB962C8B-B14F-4D97-AF65-F5344CB8AC3E}">
        <p14:creationId xmlns:p14="http://schemas.microsoft.com/office/powerpoint/2010/main" val="116666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0371E530-E2DB-4288-9384-4F17E1BC171A}"/>
              </a:ext>
            </a:extLst>
          </p:cNvPr>
          <p:cNvSpPr>
            <a:spLocks noGrp="1"/>
          </p:cNvSpPr>
          <p:nvPr/>
        </p:nvSpPr>
        <p:spPr>
          <a:xfrm>
            <a:off x="457200" y="-30884"/>
            <a:ext cx="11734800" cy="122381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为求职者解决“信息过载、选择困难</a:t>
            </a:r>
            <a:r>
              <a:rPr dirty="0"/>
              <a:t>”</a:t>
            </a:r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380C703A-203D-4749-BBB0-422012F7B2A7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pain-point-head">
            <a:extLst>
              <a:ext uri="{FF2B5EF4-FFF2-40B4-BE49-F238E27FC236}">
                <a16:creationId xmlns:a16="http://schemas.microsoft.com/office/drawing/2014/main" id="{9120D442-9BF0-4CE3-B422-F10A1545EF36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734800" cy="542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痛点</a:t>
            </a:r>
          </a:p>
        </p:txBody>
      </p:sp>
      <p:sp>
        <p:nvSpPr>
          <p:cNvPr id="4" name="pain-1">
            <a:extLst>
              <a:ext uri="{FF2B5EF4-FFF2-40B4-BE49-F238E27FC236}">
                <a16:creationId xmlns:a16="http://schemas.microsoft.com/office/drawing/2014/main" id="{F776719B-25A1-4EF6-AC9F-EB6CD32E4CBF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11734800" cy="485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招聘平台每天发布海量职位，人工筛选费时费力</a:t>
            </a:r>
          </a:p>
        </p:txBody>
      </p:sp>
      <p:sp>
        <p:nvSpPr>
          <p:cNvPr id="5" name="pain-2">
            <a:extLst>
              <a:ext uri="{FF2B5EF4-FFF2-40B4-BE49-F238E27FC236}">
                <a16:creationId xmlns:a16="http://schemas.microsoft.com/office/drawing/2014/main" id="{E81AB7BA-30C0-490B-B797-891F5F61291A}"/>
              </a:ext>
            </a:extLst>
          </p:cNvPr>
          <p:cNvSpPr>
            <a:spLocks noGrp="1"/>
          </p:cNvSpPr>
          <p:nvPr/>
        </p:nvSpPr>
        <p:spPr>
          <a:xfrm>
            <a:off x="457200" y="2552700"/>
            <a:ext cx="11734800" cy="4305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薪资、技能、公司信息分散，难以横向比较</a:t>
            </a:r>
          </a:p>
        </p:txBody>
      </p:sp>
      <p:sp>
        <p:nvSpPr>
          <p:cNvPr id="6" name="pain-3">
            <a:extLst>
              <a:ext uri="{FF2B5EF4-FFF2-40B4-BE49-F238E27FC236}">
                <a16:creationId xmlns:a16="http://schemas.microsoft.com/office/drawing/2014/main" id="{A1699AB3-24D3-44C4-8904-F36A4F99FB7D}"/>
              </a:ext>
            </a:extLst>
          </p:cNvPr>
          <p:cNvSpPr>
            <a:spLocks noGrp="1"/>
          </p:cNvSpPr>
          <p:nvPr/>
        </p:nvSpPr>
        <p:spPr>
          <a:xfrm>
            <a:off x="457200" y="3105150"/>
            <a:ext cx="11734800" cy="3752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求职者缺少与自身画像匹配的个性化参考</a:t>
            </a:r>
          </a:p>
        </p:txBody>
      </p:sp>
      <p:sp>
        <p:nvSpPr>
          <p:cNvPr id="7" name="goal-head">
            <a:extLst>
              <a:ext uri="{FF2B5EF4-FFF2-40B4-BE49-F238E27FC236}">
                <a16:creationId xmlns:a16="http://schemas.microsoft.com/office/drawing/2014/main" id="{42D0C253-C862-4A97-B125-FD6EC3652A4B}"/>
              </a:ext>
            </a:extLst>
          </p:cNvPr>
          <p:cNvSpPr>
            <a:spLocks noGrp="1"/>
          </p:cNvSpPr>
          <p:nvPr/>
        </p:nvSpPr>
        <p:spPr>
          <a:xfrm>
            <a:off x="457200" y="4000500"/>
            <a:ext cx="11734800" cy="2857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目标</a:t>
            </a:r>
          </a:p>
        </p:txBody>
      </p:sp>
      <p:sp>
        <p:nvSpPr>
          <p:cNvPr id="8" name="goal">
            <a:extLst>
              <a:ext uri="{FF2B5EF4-FFF2-40B4-BE49-F238E27FC236}">
                <a16:creationId xmlns:a16="http://schemas.microsoft.com/office/drawing/2014/main" id="{BD7E9737-4E12-4284-AA16-EA0938A9F1A1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11734800" cy="2286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采集职位数据 → 清洗入库 → 薪资/技能/企业分析 → 简历画像推荐 → 自动生成求职报告，全部可视化。</a:t>
            </a:r>
          </a:p>
        </p:txBody>
      </p:sp>
      <p:sp>
        <p:nvSpPr>
          <p:cNvPr id="9" name="course-panel">
            <a:extLst>
              <a:ext uri="{FF2B5EF4-FFF2-40B4-BE49-F238E27FC236}">
                <a16:creationId xmlns:a16="http://schemas.microsoft.com/office/drawing/2014/main" id="{D98B8DE3-9642-49FF-9089-D0DEB33D6DAE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course-head">
            <a:extLst>
              <a:ext uri="{FF2B5EF4-FFF2-40B4-BE49-F238E27FC236}">
                <a16:creationId xmlns:a16="http://schemas.microsoft.com/office/drawing/2014/main" id="{2FFECDCE-E456-4479-BF57-B70AE9149B01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5638800" cy="5086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课程要求 → 我们的方案</a:t>
            </a:r>
          </a:p>
        </p:txBody>
      </p:sp>
      <p:sp>
        <p:nvSpPr>
          <p:cNvPr id="11" name="course-1">
            <a:extLst>
              <a:ext uri="{FF2B5EF4-FFF2-40B4-BE49-F238E27FC236}">
                <a16:creationId xmlns:a16="http://schemas.microsoft.com/office/drawing/2014/main" id="{7C941B5D-C975-4EEB-AA21-8687AA583944}"/>
              </a:ext>
            </a:extLst>
          </p:cNvPr>
          <p:cNvSpPr>
            <a:spLocks noGrp="1"/>
          </p:cNvSpPr>
          <p:nvPr/>
        </p:nvSpPr>
        <p:spPr>
          <a:xfrm>
            <a:off x="6553200" y="2457450"/>
            <a:ext cx="5638800" cy="440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 项目          Streamlit 多页面应用</a:t>
            </a:r>
          </a:p>
        </p:txBody>
      </p:sp>
      <p:sp>
        <p:nvSpPr>
          <p:cNvPr id="12" name="course-2">
            <a:extLst>
              <a:ext uri="{FF2B5EF4-FFF2-40B4-BE49-F238E27FC236}">
                <a16:creationId xmlns:a16="http://schemas.microsoft.com/office/drawing/2014/main" id="{38366ABC-DC78-4E4F-B6A0-A5DAFEF3E79B}"/>
              </a:ext>
            </a:extLst>
          </p:cNvPr>
          <p:cNvSpPr>
            <a:spLocks noGrp="1"/>
          </p:cNvSpPr>
          <p:nvPr/>
        </p:nvSpPr>
        <p:spPr>
          <a:xfrm>
            <a:off x="6553200" y="3028950"/>
            <a:ext cx="5638800" cy="3829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≥3 个算法          推荐 / 预测 / 聚类 / 图谱</a:t>
            </a:r>
          </a:p>
        </p:txBody>
      </p:sp>
      <p:sp>
        <p:nvSpPr>
          <p:cNvPr id="13" name="course-3">
            <a:extLst>
              <a:ext uri="{FF2B5EF4-FFF2-40B4-BE49-F238E27FC236}">
                <a16:creationId xmlns:a16="http://schemas.microsoft.com/office/drawing/2014/main" id="{171522FD-DCAE-4830-B2B2-2FD1C4D2B8CB}"/>
              </a:ext>
            </a:extLst>
          </p:cNvPr>
          <p:cNvSpPr>
            <a:spLocks noGrp="1"/>
          </p:cNvSpPr>
          <p:nvPr/>
        </p:nvSpPr>
        <p:spPr>
          <a:xfrm>
            <a:off x="6553200" y="3600450"/>
            <a:ext cx="5638800" cy="3257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爬取 + 清洗        可配置爬虫 + 清洗流水线</a:t>
            </a:r>
          </a:p>
        </p:txBody>
      </p:sp>
      <p:sp>
        <p:nvSpPr>
          <p:cNvPr id="14" name="course-4">
            <a:extLst>
              <a:ext uri="{FF2B5EF4-FFF2-40B4-BE49-F238E27FC236}">
                <a16:creationId xmlns:a16="http://schemas.microsoft.com/office/drawing/2014/main" id="{68A6F7B9-3136-4482-8C54-4CBF4583FD1A}"/>
              </a:ext>
            </a:extLst>
          </p:cNvPr>
          <p:cNvSpPr>
            <a:spLocks noGrp="1"/>
          </p:cNvSpPr>
          <p:nvPr/>
        </p:nvSpPr>
        <p:spPr>
          <a:xfrm>
            <a:off x="6553200" y="4171950"/>
            <a:ext cx="5638800" cy="2686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可视化             图表 + 交互看板</a:t>
            </a:r>
          </a:p>
        </p:txBody>
      </p:sp>
      <p:sp>
        <p:nvSpPr>
          <p:cNvPr id="15" name="course-5">
            <a:extLst>
              <a:ext uri="{FF2B5EF4-FFF2-40B4-BE49-F238E27FC236}">
                <a16:creationId xmlns:a16="http://schemas.microsoft.com/office/drawing/2014/main" id="{306363F3-BC2D-4713-AE02-2579EF232DE8}"/>
              </a:ext>
            </a:extLst>
          </p:cNvPr>
          <p:cNvSpPr>
            <a:spLocks noGrp="1"/>
          </p:cNvSpPr>
          <p:nvPr/>
        </p:nvSpPr>
        <p:spPr>
          <a:xfrm>
            <a:off x="6553200" y="4743450"/>
            <a:ext cx="5638800" cy="2114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工具使用        tdd / skill 工作流记录</a:t>
            </a:r>
          </a:p>
        </p:txBody>
      </p:sp>
      <p:sp>
        <p:nvSpPr>
          <p:cNvPr id="16" name="footer-left">
            <a:extLst>
              <a:ext uri="{FF2B5EF4-FFF2-40B4-BE49-F238E27FC236}">
                <a16:creationId xmlns:a16="http://schemas.microsoft.com/office/drawing/2014/main" id="{260FA8A3-75E4-4302-A599-2B3932C082FD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7" name="footer-page">
            <a:extLst>
              <a:ext uri="{FF2B5EF4-FFF2-40B4-BE49-F238E27FC236}">
                <a16:creationId xmlns:a16="http://schemas.microsoft.com/office/drawing/2014/main" id="{C39D9B64-8B94-49EB-9E39-965C420F3F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6931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title">
            <a:extLst>
              <a:ext uri="{FF2B5EF4-FFF2-40B4-BE49-F238E27FC236}">
                <a16:creationId xmlns:a16="http://schemas.microsoft.com/office/drawing/2014/main" id="{26BBB708-C5DB-4246-9141-ABFFFF0BEDFB}"/>
              </a:ext>
            </a:extLst>
          </p:cNvPr>
          <p:cNvSpPr>
            <a:spLocks noGrp="1"/>
          </p:cNvSpPr>
          <p:nvPr/>
        </p:nvSpPr>
        <p:spPr>
          <a:xfrm>
            <a:off x="457200" y="95250"/>
            <a:ext cx="11734800" cy="10287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五层架构：从采集到自动报告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A0CA31EB-BEDA-48AB-ABB1-62DF611F6F4E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arch-num-0">
            <a:extLst>
              <a:ext uri="{FF2B5EF4-FFF2-40B4-BE49-F238E27FC236}">
                <a16:creationId xmlns:a16="http://schemas.microsoft.com/office/drawing/2014/main" id="{A4A8DC4B-AD0C-4494-BEAE-9C0D4467D529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11734800" cy="533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4" name="arch-name-0">
            <a:extLst>
              <a:ext uri="{FF2B5EF4-FFF2-40B4-BE49-F238E27FC236}">
                <a16:creationId xmlns:a16="http://schemas.microsoft.com/office/drawing/2014/main" id="{07CBBAB1-C094-4CBF-A0E3-AD2598D9B5A7}"/>
              </a:ext>
            </a:extLst>
          </p:cNvPr>
          <p:cNvSpPr>
            <a:spLocks noGrp="1"/>
          </p:cNvSpPr>
          <p:nvPr/>
        </p:nvSpPr>
        <p:spPr>
          <a:xfrm>
            <a:off x="1428750" y="1524000"/>
            <a:ext cx="10763250" cy="533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采集层</a:t>
            </a:r>
          </a:p>
        </p:txBody>
      </p:sp>
      <p:sp>
        <p:nvSpPr>
          <p:cNvPr id="5" name="arch-desc-0">
            <a:extLst>
              <a:ext uri="{FF2B5EF4-FFF2-40B4-BE49-F238E27FC236}">
                <a16:creationId xmlns:a16="http://schemas.microsoft.com/office/drawing/2014/main" id="{29CFC0FD-A519-401B-AFCB-04269DD1A651}"/>
              </a:ext>
            </a:extLst>
          </p:cNvPr>
          <p:cNvSpPr>
            <a:spLocks noGrp="1"/>
          </p:cNvSpPr>
          <p:nvPr/>
        </p:nvSpPr>
        <p:spPr>
          <a:xfrm>
            <a:off x="3238500" y="1581150"/>
            <a:ext cx="8953500" cy="5276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可配置爬虫：关键词 × 城市 × 页码，BFS/DFS 调度，限速 / UA 池 / 重试</a:t>
            </a:r>
          </a:p>
        </p:txBody>
      </p:sp>
      <p:sp>
        <p:nvSpPr>
          <p:cNvPr id="6" name="rule-48-238">
            <a:extLst>
              <a:ext uri="{FF2B5EF4-FFF2-40B4-BE49-F238E27FC236}">
                <a16:creationId xmlns:a16="http://schemas.microsoft.com/office/drawing/2014/main" id="{595C8772-907C-45AD-A4D2-E2BBE700EC4D}"/>
              </a:ext>
            </a:extLst>
          </p:cNvPr>
          <p:cNvSpPr>
            <a:spLocks noGrp="1"/>
          </p:cNvSpPr>
          <p:nvPr/>
        </p:nvSpPr>
        <p:spPr>
          <a:xfrm>
            <a:off x="457200" y="22669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7" name="arch-num-1">
            <a:extLst>
              <a:ext uri="{FF2B5EF4-FFF2-40B4-BE49-F238E27FC236}">
                <a16:creationId xmlns:a16="http://schemas.microsoft.com/office/drawing/2014/main" id="{247C6743-89F6-4F01-97B0-9324986DCDB8}"/>
              </a:ext>
            </a:extLst>
          </p:cNvPr>
          <p:cNvSpPr>
            <a:spLocks noGrp="1"/>
          </p:cNvSpPr>
          <p:nvPr/>
        </p:nvSpPr>
        <p:spPr>
          <a:xfrm>
            <a:off x="457200" y="2438400"/>
            <a:ext cx="11734800" cy="441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8" name="arch-name-1">
            <a:extLst>
              <a:ext uri="{FF2B5EF4-FFF2-40B4-BE49-F238E27FC236}">
                <a16:creationId xmlns:a16="http://schemas.microsoft.com/office/drawing/2014/main" id="{A1D651A2-1FD7-429E-84E8-088BE2AF7C89}"/>
              </a:ext>
            </a:extLst>
          </p:cNvPr>
          <p:cNvSpPr>
            <a:spLocks noGrp="1"/>
          </p:cNvSpPr>
          <p:nvPr/>
        </p:nvSpPr>
        <p:spPr>
          <a:xfrm>
            <a:off x="1428750" y="2438400"/>
            <a:ext cx="10763250" cy="441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数据层</a:t>
            </a:r>
          </a:p>
        </p:txBody>
      </p:sp>
      <p:sp>
        <p:nvSpPr>
          <p:cNvPr id="9" name="arch-desc-1">
            <a:extLst>
              <a:ext uri="{FF2B5EF4-FFF2-40B4-BE49-F238E27FC236}">
                <a16:creationId xmlns:a16="http://schemas.microsoft.com/office/drawing/2014/main" id="{DD4230F7-6D04-4E0B-A4BD-8F4BBB094B4A}"/>
              </a:ext>
            </a:extLst>
          </p:cNvPr>
          <p:cNvSpPr>
            <a:spLocks noGrp="1"/>
          </p:cNvSpPr>
          <p:nvPr/>
        </p:nvSpPr>
        <p:spPr>
          <a:xfrm>
            <a:off x="3238500" y="2495550"/>
            <a:ext cx="8953500" cy="436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薪资解析、去重、标准化 → SQLite / CSV，质量报告</a:t>
            </a:r>
          </a:p>
        </p:txBody>
      </p:sp>
      <p:sp>
        <p:nvSpPr>
          <p:cNvPr id="10" name="rule-48-334">
            <a:extLst>
              <a:ext uri="{FF2B5EF4-FFF2-40B4-BE49-F238E27FC236}">
                <a16:creationId xmlns:a16="http://schemas.microsoft.com/office/drawing/2014/main" id="{F3E256B1-874A-4F12-9284-C60C0E8DC326}"/>
              </a:ext>
            </a:extLst>
          </p:cNvPr>
          <p:cNvSpPr>
            <a:spLocks noGrp="1"/>
          </p:cNvSpPr>
          <p:nvPr/>
        </p:nvSpPr>
        <p:spPr>
          <a:xfrm>
            <a:off x="457200" y="31813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arch-num-2">
            <a:extLst>
              <a:ext uri="{FF2B5EF4-FFF2-40B4-BE49-F238E27FC236}">
                <a16:creationId xmlns:a16="http://schemas.microsoft.com/office/drawing/2014/main" id="{3A96C9E2-033C-4FD3-BE77-0A86AD642333}"/>
              </a:ext>
            </a:extLst>
          </p:cNvPr>
          <p:cNvSpPr>
            <a:spLocks noGrp="1"/>
          </p:cNvSpPr>
          <p:nvPr/>
        </p:nvSpPr>
        <p:spPr>
          <a:xfrm>
            <a:off x="457200" y="3352800"/>
            <a:ext cx="11734800" cy="3505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2" name="arch-name-2">
            <a:extLst>
              <a:ext uri="{FF2B5EF4-FFF2-40B4-BE49-F238E27FC236}">
                <a16:creationId xmlns:a16="http://schemas.microsoft.com/office/drawing/2014/main" id="{CB6E237F-2A32-4BD0-9886-97C7CE3977A7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10763250" cy="3505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算法层</a:t>
            </a:r>
          </a:p>
        </p:txBody>
      </p:sp>
      <p:sp>
        <p:nvSpPr>
          <p:cNvPr id="13" name="arch-desc-2">
            <a:extLst>
              <a:ext uri="{FF2B5EF4-FFF2-40B4-BE49-F238E27FC236}">
                <a16:creationId xmlns:a16="http://schemas.microsoft.com/office/drawing/2014/main" id="{981852C9-67B1-42D7-A257-4DB6CEF10DF1}"/>
              </a:ext>
            </a:extLst>
          </p:cNvPr>
          <p:cNvSpPr>
            <a:spLocks noGrp="1"/>
          </p:cNvSpPr>
          <p:nvPr/>
        </p:nvSpPr>
        <p:spPr>
          <a:xfrm>
            <a:off x="3238500" y="3409950"/>
            <a:ext cx="8953500" cy="3448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内容推荐 · 薪资预测 · 岗位聚类 · 技能图谱</a:t>
            </a:r>
          </a:p>
        </p:txBody>
      </p:sp>
      <p:sp>
        <p:nvSpPr>
          <p:cNvPr id="14" name="rule-48-430">
            <a:extLst>
              <a:ext uri="{FF2B5EF4-FFF2-40B4-BE49-F238E27FC236}">
                <a16:creationId xmlns:a16="http://schemas.microsoft.com/office/drawing/2014/main" id="{191166C5-9847-4D5C-A21E-F43F74ADAD86}"/>
              </a:ext>
            </a:extLst>
          </p:cNvPr>
          <p:cNvSpPr>
            <a:spLocks noGrp="1"/>
          </p:cNvSpPr>
          <p:nvPr/>
        </p:nvSpPr>
        <p:spPr>
          <a:xfrm>
            <a:off x="457200" y="40957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5" name="arch-num-3">
            <a:extLst>
              <a:ext uri="{FF2B5EF4-FFF2-40B4-BE49-F238E27FC236}">
                <a16:creationId xmlns:a16="http://schemas.microsoft.com/office/drawing/2014/main" id="{0EBB8EE9-DA71-489B-80CA-FBB7E3EE3666}"/>
              </a:ext>
            </a:extLst>
          </p:cNvPr>
          <p:cNvSpPr>
            <a:spLocks noGrp="1"/>
          </p:cNvSpPr>
          <p:nvPr/>
        </p:nvSpPr>
        <p:spPr>
          <a:xfrm>
            <a:off x="457200" y="4267200"/>
            <a:ext cx="11734800" cy="2590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6" name="arch-name-3">
            <a:extLst>
              <a:ext uri="{FF2B5EF4-FFF2-40B4-BE49-F238E27FC236}">
                <a16:creationId xmlns:a16="http://schemas.microsoft.com/office/drawing/2014/main" id="{F2F0B560-04BC-44D5-A71F-C35D12272F34}"/>
              </a:ext>
            </a:extLst>
          </p:cNvPr>
          <p:cNvSpPr>
            <a:spLocks noGrp="1"/>
          </p:cNvSpPr>
          <p:nvPr/>
        </p:nvSpPr>
        <p:spPr>
          <a:xfrm>
            <a:off x="1428750" y="4267200"/>
            <a:ext cx="10763250" cy="2590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展示层</a:t>
            </a:r>
          </a:p>
        </p:txBody>
      </p:sp>
      <p:sp>
        <p:nvSpPr>
          <p:cNvPr id="17" name="arch-desc-3">
            <a:extLst>
              <a:ext uri="{FF2B5EF4-FFF2-40B4-BE49-F238E27FC236}">
                <a16:creationId xmlns:a16="http://schemas.microsoft.com/office/drawing/2014/main" id="{138D9BEC-4755-4585-81EA-C4C60381D6DD}"/>
              </a:ext>
            </a:extLst>
          </p:cNvPr>
          <p:cNvSpPr>
            <a:spLocks noGrp="1"/>
          </p:cNvSpPr>
          <p:nvPr/>
        </p:nvSpPr>
        <p:spPr>
          <a:xfrm>
            <a:off x="3238500" y="4324350"/>
            <a:ext cx="8953500" cy="2533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Streamlit 多页面看板：总览 / 薪资 / 技能 / 匹配</a:t>
            </a:r>
          </a:p>
        </p:txBody>
      </p:sp>
      <p:sp>
        <p:nvSpPr>
          <p:cNvPr id="18" name="rule-48-526">
            <a:extLst>
              <a:ext uri="{FF2B5EF4-FFF2-40B4-BE49-F238E27FC236}">
                <a16:creationId xmlns:a16="http://schemas.microsoft.com/office/drawing/2014/main" id="{582434A8-D79E-4428-A7B1-785BBF385B09}"/>
              </a:ext>
            </a:extLst>
          </p:cNvPr>
          <p:cNvSpPr>
            <a:spLocks noGrp="1"/>
          </p:cNvSpPr>
          <p:nvPr/>
        </p:nvSpPr>
        <p:spPr>
          <a:xfrm>
            <a:off x="457200" y="50101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9" name="arch-num-4">
            <a:extLst>
              <a:ext uri="{FF2B5EF4-FFF2-40B4-BE49-F238E27FC236}">
                <a16:creationId xmlns:a16="http://schemas.microsoft.com/office/drawing/2014/main" id="{C3299122-D5BC-4405-910A-96217995E6DE}"/>
              </a:ext>
            </a:extLst>
          </p:cNvPr>
          <p:cNvSpPr>
            <a:spLocks noGrp="1"/>
          </p:cNvSpPr>
          <p:nvPr/>
        </p:nvSpPr>
        <p:spPr>
          <a:xfrm>
            <a:off x="457200" y="5181600"/>
            <a:ext cx="11734800" cy="167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0" name="arch-name-4">
            <a:extLst>
              <a:ext uri="{FF2B5EF4-FFF2-40B4-BE49-F238E27FC236}">
                <a16:creationId xmlns:a16="http://schemas.microsoft.com/office/drawing/2014/main" id="{BD51AB7A-E694-465E-B028-C352B946BE21}"/>
              </a:ext>
            </a:extLst>
          </p:cNvPr>
          <p:cNvSpPr>
            <a:spLocks noGrp="1"/>
          </p:cNvSpPr>
          <p:nvPr/>
        </p:nvSpPr>
        <p:spPr>
          <a:xfrm>
            <a:off x="1428750" y="5181600"/>
            <a:ext cx="10763250" cy="167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自动化层</a:t>
            </a:r>
          </a:p>
        </p:txBody>
      </p:sp>
      <p:sp>
        <p:nvSpPr>
          <p:cNvPr id="21" name="arch-desc-4">
            <a:extLst>
              <a:ext uri="{FF2B5EF4-FFF2-40B4-BE49-F238E27FC236}">
                <a16:creationId xmlns:a16="http://schemas.microsoft.com/office/drawing/2014/main" id="{CD45F87C-E52B-4356-891A-7539B4F872D6}"/>
              </a:ext>
            </a:extLst>
          </p:cNvPr>
          <p:cNvSpPr>
            <a:spLocks noGrp="1"/>
          </p:cNvSpPr>
          <p:nvPr/>
        </p:nvSpPr>
        <p:spPr>
          <a:xfrm>
            <a:off x="3238500" y="5238750"/>
            <a:ext cx="8953500" cy="161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定时爬取、自动日报、匹配提醒、投递材料包</a:t>
            </a:r>
          </a:p>
        </p:txBody>
      </p:sp>
      <p:sp>
        <p:nvSpPr>
          <p:cNvPr id="22" name="footer-left">
            <a:extLst>
              <a:ext uri="{FF2B5EF4-FFF2-40B4-BE49-F238E27FC236}">
                <a16:creationId xmlns:a16="http://schemas.microsoft.com/office/drawing/2014/main" id="{116EBA32-E06B-4F7D-B956-F8064A17C91E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23" name="footer-page">
            <a:extLst>
              <a:ext uri="{FF2B5EF4-FFF2-40B4-BE49-F238E27FC236}">
                <a16:creationId xmlns:a16="http://schemas.microsoft.com/office/drawing/2014/main" id="{CCAD6E2E-6ACD-4688-AD1E-7F72ADE116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228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63EA5CDF-9CF0-4BD8-9F99-7E6C9939DB38}"/>
              </a:ext>
            </a:extLst>
          </p:cNvPr>
          <p:cNvSpPr>
            <a:spLocks noGrp="1"/>
          </p:cNvSpPr>
          <p:nvPr/>
        </p:nvSpPr>
        <p:spPr>
          <a:xfrm>
            <a:off x="457200" y="155287"/>
            <a:ext cx="11734800" cy="946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真实采集踩坑</a:t>
            </a:r>
            <a:r>
              <a:rPr dirty="0"/>
              <a:t> + </a:t>
            </a:r>
            <a:r>
              <a:rPr dirty="0" err="1"/>
              <a:t>清洗流水线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EC7A96E8-5339-4667-8E88-1A3908D75371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left-head">
            <a:extLst>
              <a:ext uri="{FF2B5EF4-FFF2-40B4-BE49-F238E27FC236}">
                <a16:creationId xmlns:a16="http://schemas.microsoft.com/office/drawing/2014/main" id="{FD1ADBB0-B377-4E60-AA86-96CC6021F072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734800" cy="542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采集：可配置、可降级</a:t>
            </a:r>
          </a:p>
        </p:txBody>
      </p:sp>
      <p:sp>
        <p:nvSpPr>
          <p:cNvPr id="4" name="crawl-1">
            <a:extLst>
              <a:ext uri="{FF2B5EF4-FFF2-40B4-BE49-F238E27FC236}">
                <a16:creationId xmlns:a16="http://schemas.microsoft.com/office/drawing/2014/main" id="{2095CAA8-DEEB-44C5-BDEC-3106913D0434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1734800" cy="476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智联 fe-api 搜索接口：关键词 / 城市 / 页码可配置</a:t>
            </a:r>
          </a:p>
        </p:txBody>
      </p:sp>
      <p:sp>
        <p:nvSpPr>
          <p:cNvPr id="5" name="crawl-2">
            <a:extLst>
              <a:ext uri="{FF2B5EF4-FFF2-40B4-BE49-F238E27FC236}">
                <a16:creationId xmlns:a16="http://schemas.microsoft.com/office/drawing/2014/main" id="{7DAF86CE-0484-4EFE-AE04-1D5F821DD8B0}"/>
              </a:ext>
            </a:extLst>
          </p:cNvPr>
          <p:cNvSpPr>
            <a:spLocks noGrp="1"/>
          </p:cNvSpPr>
          <p:nvPr/>
        </p:nvSpPr>
        <p:spPr>
          <a:xfrm>
            <a:off x="457200" y="2647950"/>
            <a:ext cx="11734800" cy="421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自研 BFS/DFS 调度 + 限速 + UA 池 + 指数退避重试</a:t>
            </a:r>
          </a:p>
        </p:txBody>
      </p:sp>
      <p:sp>
        <p:nvSpPr>
          <p:cNvPr id="6" name="crawl-3">
            <a:extLst>
              <a:ext uri="{FF2B5EF4-FFF2-40B4-BE49-F238E27FC236}">
                <a16:creationId xmlns:a16="http://schemas.microsoft.com/office/drawing/2014/main" id="{CC3EA477-C7CC-41F8-B68F-2CB551D21466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11734800" cy="3657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实测：接口存活但返回空结果（反爬），自动降级样例数据</a:t>
            </a:r>
          </a:p>
        </p:txBody>
      </p:sp>
      <p:sp>
        <p:nvSpPr>
          <p:cNvPr id="7" name="crawl-4">
            <a:extLst>
              <a:ext uri="{FF2B5EF4-FFF2-40B4-BE49-F238E27FC236}">
                <a16:creationId xmlns:a16="http://schemas.microsoft.com/office/drawing/2014/main" id="{5415CFF8-32DF-47FC-9422-65ADD9111432}"/>
              </a:ext>
            </a:extLst>
          </p:cNvPr>
          <p:cNvSpPr>
            <a:spLocks noGrp="1"/>
          </p:cNvSpPr>
          <p:nvPr/>
        </p:nvSpPr>
        <p:spPr>
          <a:xfrm>
            <a:off x="457200" y="3962400"/>
            <a:ext cx="11734800" cy="2895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命令行：run_crawler.py，失败非零退出并提示回退</a:t>
            </a:r>
          </a:p>
        </p:txBody>
      </p:sp>
      <p:sp>
        <p:nvSpPr>
          <p:cNvPr id="8" name="clean-panel">
            <a:extLst>
              <a:ext uri="{FF2B5EF4-FFF2-40B4-BE49-F238E27FC236}">
                <a16:creationId xmlns:a16="http://schemas.microsoft.com/office/drawing/2014/main" id="{BB4203C3-6E7E-4ACF-A364-D8B9C50D9168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ight-head">
            <a:extLst>
              <a:ext uri="{FF2B5EF4-FFF2-40B4-BE49-F238E27FC236}">
                <a16:creationId xmlns:a16="http://schemas.microsoft.com/office/drawing/2014/main" id="{9C6DFCBF-CA7E-4B3C-87E0-DEAE78D18ECF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5638800" cy="5086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清洗：把文本变成数字</a:t>
            </a:r>
          </a:p>
        </p:txBody>
      </p:sp>
      <p:sp>
        <p:nvSpPr>
          <p:cNvPr id="10" name="clean-1">
            <a:extLst>
              <a:ext uri="{FF2B5EF4-FFF2-40B4-BE49-F238E27FC236}">
                <a16:creationId xmlns:a16="http://schemas.microsoft.com/office/drawing/2014/main" id="{5CD5A829-DD66-4BF5-B723-DFE772DACFEE}"/>
              </a:ext>
            </a:extLst>
          </p:cNvPr>
          <p:cNvSpPr>
            <a:spLocks noGrp="1"/>
          </p:cNvSpPr>
          <p:nvPr/>
        </p:nvSpPr>
        <p:spPr>
          <a:xfrm>
            <a:off x="6553200" y="2457450"/>
            <a:ext cx="5638800" cy="440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薪资解析：15-25K·14薪 → 15 / 25 / 20 K</a:t>
            </a:r>
          </a:p>
        </p:txBody>
      </p:sp>
      <p:sp>
        <p:nvSpPr>
          <p:cNvPr id="11" name="clean-2">
            <a:extLst>
              <a:ext uri="{FF2B5EF4-FFF2-40B4-BE49-F238E27FC236}">
                <a16:creationId xmlns:a16="http://schemas.microsoft.com/office/drawing/2014/main" id="{1AE11AC0-DE0A-4C3A-883D-6E0D2687897B}"/>
              </a:ext>
            </a:extLst>
          </p:cNvPr>
          <p:cNvSpPr>
            <a:spLocks noGrp="1"/>
          </p:cNvSpPr>
          <p:nvPr/>
        </p:nvSpPr>
        <p:spPr>
          <a:xfrm>
            <a:off x="6553200" y="3028950"/>
            <a:ext cx="5638800" cy="3829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按 职位 + 公司 + 城市 + 薪资 去重</a:t>
            </a:r>
          </a:p>
        </p:txBody>
      </p:sp>
      <p:sp>
        <p:nvSpPr>
          <p:cNvPr id="12" name="clean-3">
            <a:extLst>
              <a:ext uri="{FF2B5EF4-FFF2-40B4-BE49-F238E27FC236}">
                <a16:creationId xmlns:a16="http://schemas.microsoft.com/office/drawing/2014/main" id="{73BD682F-4FBD-4712-950A-45031305392A}"/>
              </a:ext>
            </a:extLst>
          </p:cNvPr>
          <p:cNvSpPr>
            <a:spLocks noGrp="1"/>
          </p:cNvSpPr>
          <p:nvPr/>
        </p:nvSpPr>
        <p:spPr>
          <a:xfrm>
            <a:off x="6553200" y="3600450"/>
            <a:ext cx="5638800" cy="3257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学历 / 经验 / 公司规模标准化</a:t>
            </a:r>
          </a:p>
        </p:txBody>
      </p:sp>
      <p:sp>
        <p:nvSpPr>
          <p:cNvPr id="13" name="clean-4">
            <a:extLst>
              <a:ext uri="{FF2B5EF4-FFF2-40B4-BE49-F238E27FC236}">
                <a16:creationId xmlns:a16="http://schemas.microsoft.com/office/drawing/2014/main" id="{C92D096A-5EDF-4E2D-A001-2D23E088BCF7}"/>
              </a:ext>
            </a:extLst>
          </p:cNvPr>
          <p:cNvSpPr>
            <a:spLocks noGrp="1"/>
          </p:cNvSpPr>
          <p:nvPr/>
        </p:nvSpPr>
        <p:spPr>
          <a:xfrm>
            <a:off x="6553200" y="4171950"/>
            <a:ext cx="5638800" cy="2686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输出质量报告 JSON，缺失率可审计</a:t>
            </a:r>
          </a:p>
        </p:txBody>
      </p:sp>
      <p:sp>
        <p:nvSpPr>
          <p:cNvPr id="14" name="clean-5">
            <a:extLst>
              <a:ext uri="{FF2B5EF4-FFF2-40B4-BE49-F238E27FC236}">
                <a16:creationId xmlns:a16="http://schemas.microsoft.com/office/drawing/2014/main" id="{A701A344-5882-4FAD-96D8-5F4E4A41321C}"/>
              </a:ext>
            </a:extLst>
          </p:cNvPr>
          <p:cNvSpPr>
            <a:spLocks noGrp="1"/>
          </p:cNvSpPr>
          <p:nvPr/>
        </p:nvSpPr>
        <p:spPr>
          <a:xfrm>
            <a:off x="6553200" y="4743450"/>
            <a:ext cx="5638800" cy="2114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技能标签用 jieba + 技能词典提取</a:t>
            </a:r>
          </a:p>
        </p:txBody>
      </p:sp>
      <p:sp>
        <p:nvSpPr>
          <p:cNvPr id="15" name="footer-left">
            <a:extLst>
              <a:ext uri="{FF2B5EF4-FFF2-40B4-BE49-F238E27FC236}">
                <a16:creationId xmlns:a16="http://schemas.microsoft.com/office/drawing/2014/main" id="{D1ACFF0F-6CCC-4594-88BC-7C8D8CD0A36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6" name="footer-page">
            <a:extLst>
              <a:ext uri="{FF2B5EF4-FFF2-40B4-BE49-F238E27FC236}">
                <a16:creationId xmlns:a16="http://schemas.microsoft.com/office/drawing/2014/main" id="{B8C8357D-C633-43B1-A32E-63A63780CF2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8736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73513B40-29CF-4D4B-9DBF-451BCAF22000}"/>
              </a:ext>
            </a:extLst>
          </p:cNvPr>
          <p:cNvSpPr>
            <a:spLocks noGrp="1"/>
          </p:cNvSpPr>
          <p:nvPr/>
        </p:nvSpPr>
        <p:spPr>
          <a:xfrm>
            <a:off x="372358" y="205229"/>
            <a:ext cx="11734800" cy="95682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数据字典与质量报告</a:t>
            </a:r>
            <a:endParaRPr dirty="0"/>
          </a:p>
        </p:txBody>
      </p:sp>
      <p:sp>
        <p:nvSpPr>
          <p:cNvPr id="2" name="overview-line">
            <a:extLst>
              <a:ext uri="{FF2B5EF4-FFF2-40B4-BE49-F238E27FC236}">
                <a16:creationId xmlns:a16="http://schemas.microsoft.com/office/drawing/2014/main" id="{7F502DF9-F5D1-4D35-A5CA-3CB387FFD1C5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734800" cy="5695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320 条职位 · 8 个城市 · 平均月薪 18.22K</a:t>
            </a:r>
          </a:p>
        </p:txBody>
      </p:sp>
      <p:graphicFrame>
        <p:nvGraphicFramePr>
          <p:cNvPr id="9" name="dict-table"/>
          <p:cNvGraphicFramePr/>
          <p:nvPr>
            <p:extLst>
              <p:ext uri="{D42A27DB-BD31-4B8C-83A1-F6EECF244321}">
                <p14:modId xmlns:p14="http://schemas.microsoft.com/office/powerpoint/2010/main" val="3442996279"/>
              </p:ext>
            </p:extLst>
          </p:nvPr>
        </p:nvGraphicFramePr>
        <p:xfrm>
          <a:off x="372358" y="1498725"/>
          <a:ext cx="11239500" cy="5022600"/>
        </p:xfrm>
        <a:graphic>
          <a:graphicData uri="http://schemas.openxmlformats.org/drawingml/2006/table">
            <a:tbl>
              <a:tblPr/>
              <a:tblGrid>
                <a:gridCol w="3417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7571">
                <a:tc>
                  <a:txBody>
                    <a:bodyPr/>
                    <a:lstStyle/>
                    <a:p>
                      <a:r>
                        <a:t>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174">
                <a:tc>
                  <a:txBody>
                    <a:bodyPr/>
                    <a:lstStyle/>
                    <a:p>
                      <a:r>
                        <a:t>title /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职位名称 / 工作城市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r>
                        <a:rPr dirty="0" err="1"/>
                        <a:t>salary_text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原始薪资，如 15-25K·14薪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r>
                        <a:t>salary_avg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平均月薪（K），面议为空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r>
                        <a:t>skills /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技能标签 / 职位描述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r>
                        <a:t>education /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学历要求 / 经验要求（标准化）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r>
                        <a:t>publish_date /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发布日期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职位链接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quality-caption">
            <a:extLst>
              <a:ext uri="{FF2B5EF4-FFF2-40B4-BE49-F238E27FC236}">
                <a16:creationId xmlns:a16="http://schemas.microsoft.com/office/drawing/2014/main" id="{56794AA0-ADA5-44B7-B91F-563CA9AA16C0}"/>
              </a:ext>
            </a:extLst>
          </p:cNvPr>
          <p:cNvSpPr>
            <a:spLocks noGrp="1"/>
          </p:cNvSpPr>
          <p:nvPr/>
        </p:nvSpPr>
        <p:spPr>
          <a:xfrm>
            <a:off x="457200" y="6000750"/>
            <a:ext cx="11734800" cy="857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清洗前后行数、去重数、缺失率由 cleaner 流水线自动统计，写入 data/cleaned/quality_report.json</a:t>
            </a:r>
          </a:p>
        </p:txBody>
      </p:sp>
      <p:sp>
        <p:nvSpPr>
          <p:cNvPr id="5" name="footer-left">
            <a:extLst>
              <a:ext uri="{FF2B5EF4-FFF2-40B4-BE49-F238E27FC236}">
                <a16:creationId xmlns:a16="http://schemas.microsoft.com/office/drawing/2014/main" id="{E07C96ED-3158-4679-992F-5BD4772B075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FBA5EE15-7676-40FE-914E-A70F0A0D403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2366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2C6BFEAF-2649-408A-AFE7-DE52113F87AE}"/>
              </a:ext>
            </a:extLst>
          </p:cNvPr>
          <p:cNvSpPr>
            <a:spLocks noGrp="1"/>
          </p:cNvSpPr>
          <p:nvPr/>
        </p:nvSpPr>
        <p:spPr>
          <a:xfrm>
            <a:off x="457200" y="-2667000"/>
            <a:ext cx="11734800" cy="6534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四个算法：推荐</a:t>
            </a:r>
            <a:r>
              <a:rPr dirty="0"/>
              <a:t> · </a:t>
            </a:r>
            <a:r>
              <a:rPr dirty="0" err="1"/>
              <a:t>预测</a:t>
            </a:r>
            <a:r>
              <a:rPr dirty="0"/>
              <a:t> · </a:t>
            </a:r>
            <a:r>
              <a:rPr dirty="0" err="1"/>
              <a:t>聚类</a:t>
            </a:r>
            <a:r>
              <a:rPr dirty="0"/>
              <a:t> · </a:t>
            </a:r>
            <a:r>
              <a:rPr dirty="0" err="1"/>
              <a:t>图谱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0B3028B5-0205-420E-8F05-F298B975C043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chart-panel">
            <a:extLst>
              <a:ext uri="{FF2B5EF4-FFF2-40B4-BE49-F238E27FC236}">
                <a16:creationId xmlns:a16="http://schemas.microsoft.com/office/drawing/2014/main" id="{AD296960-E253-4FE4-A023-4FCF75FF4F6A}"/>
              </a:ext>
            </a:extLst>
          </p:cNvPr>
          <p:cNvSpPr>
            <a:spLocks noGrp="1"/>
          </p:cNvSpPr>
          <p:nvPr/>
        </p:nvSpPr>
        <p:spPr>
          <a:xfrm>
            <a:off x="110837" y="1047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chart-caption">
            <a:extLst>
              <a:ext uri="{FF2B5EF4-FFF2-40B4-BE49-F238E27FC236}">
                <a16:creationId xmlns:a16="http://schemas.microsoft.com/office/drawing/2014/main" id="{8502D151-9E9B-4921-8D46-11C6E13C8A79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734800" cy="581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职位技能出现次数 Top 10（样例数据）</a:t>
            </a:r>
          </a:p>
        </p:txBody>
      </p:sp>
      <p:sp>
        <p:nvSpPr>
          <p:cNvPr id="5" name="algo-1">
            <a:extLst>
              <a:ext uri="{FF2B5EF4-FFF2-40B4-BE49-F238E27FC236}">
                <a16:creationId xmlns:a16="http://schemas.microsoft.com/office/drawing/2014/main" id="{860106E4-5B29-442E-B24A-B2D6E2538ECB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6096000" cy="533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内容推荐</a:t>
            </a:r>
            <a:endParaRPr dirty="0"/>
          </a:p>
        </p:txBody>
      </p:sp>
      <p:sp>
        <p:nvSpPr>
          <p:cNvPr id="6" name="algo-1-d">
            <a:extLst>
              <a:ext uri="{FF2B5EF4-FFF2-40B4-BE49-F238E27FC236}">
                <a16:creationId xmlns:a16="http://schemas.microsoft.com/office/drawing/2014/main" id="{00120CE1-0BEE-460D-861D-7EB5350274F4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6096000" cy="4895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TF-IDF + </a:t>
            </a:r>
            <a:r>
              <a:rPr dirty="0" err="1"/>
              <a:t>余弦相似度，硬过滤</a:t>
            </a:r>
            <a:r>
              <a:rPr dirty="0"/>
              <a:t> + Top-N </a:t>
            </a:r>
            <a:r>
              <a:rPr dirty="0" err="1"/>
              <a:t>匹配分</a:t>
            </a:r>
            <a:endParaRPr dirty="0"/>
          </a:p>
        </p:txBody>
      </p:sp>
      <p:sp>
        <p:nvSpPr>
          <p:cNvPr id="7" name="algo-2">
            <a:extLst>
              <a:ext uri="{FF2B5EF4-FFF2-40B4-BE49-F238E27FC236}">
                <a16:creationId xmlns:a16="http://schemas.microsoft.com/office/drawing/2014/main" id="{1868C287-9B2B-4ED5-B42F-4240729F6A73}"/>
              </a:ext>
            </a:extLst>
          </p:cNvPr>
          <p:cNvSpPr>
            <a:spLocks noGrp="1"/>
          </p:cNvSpPr>
          <p:nvPr/>
        </p:nvSpPr>
        <p:spPr>
          <a:xfrm>
            <a:off x="6096000" y="2667000"/>
            <a:ext cx="6096000" cy="419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薪资预测</a:t>
            </a:r>
          </a:p>
        </p:txBody>
      </p:sp>
      <p:sp>
        <p:nvSpPr>
          <p:cNvPr id="8" name="algo-2-d">
            <a:extLst>
              <a:ext uri="{FF2B5EF4-FFF2-40B4-BE49-F238E27FC236}">
                <a16:creationId xmlns:a16="http://schemas.microsoft.com/office/drawing/2014/main" id="{5281E0A4-F7EB-4BDD-923D-D6544D0931BE}"/>
              </a:ext>
            </a:extLst>
          </p:cNvPr>
          <p:cNvSpPr>
            <a:spLocks noGrp="1"/>
          </p:cNvSpPr>
          <p:nvPr/>
        </p:nvSpPr>
        <p:spPr>
          <a:xfrm>
            <a:off x="6096000" y="3105150"/>
            <a:ext cx="6096000" cy="3752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随机森林回归，输出 MAE / R² / 特征重要性</a:t>
            </a:r>
          </a:p>
        </p:txBody>
      </p:sp>
      <p:sp>
        <p:nvSpPr>
          <p:cNvPr id="9" name="algo-3">
            <a:extLst>
              <a:ext uri="{FF2B5EF4-FFF2-40B4-BE49-F238E27FC236}">
                <a16:creationId xmlns:a16="http://schemas.microsoft.com/office/drawing/2014/main" id="{6DDBEB91-661E-4D00-AF2D-CD1AA9535C39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6096000" cy="304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岗位聚类</a:t>
            </a:r>
          </a:p>
        </p:txBody>
      </p:sp>
      <p:sp>
        <p:nvSpPr>
          <p:cNvPr id="10" name="algo-3-d">
            <a:extLst>
              <a:ext uri="{FF2B5EF4-FFF2-40B4-BE49-F238E27FC236}">
                <a16:creationId xmlns:a16="http://schemas.microsoft.com/office/drawing/2014/main" id="{E0C32B3A-DB93-4C90-84ED-EE971EA8AA01}"/>
              </a:ext>
            </a:extLst>
          </p:cNvPr>
          <p:cNvSpPr>
            <a:spLocks noGrp="1"/>
          </p:cNvSpPr>
          <p:nvPr/>
        </p:nvSpPr>
        <p:spPr>
          <a:xfrm>
            <a:off x="6096000" y="4248150"/>
            <a:ext cx="6096000" cy="2609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KMeans</a:t>
            </a:r>
            <a:r>
              <a:rPr dirty="0"/>
              <a:t> + </a:t>
            </a:r>
            <a:r>
              <a:rPr dirty="0" err="1"/>
              <a:t>轮廓系数，输出每簇岗位画像</a:t>
            </a:r>
            <a:endParaRPr dirty="0"/>
          </a:p>
        </p:txBody>
      </p:sp>
      <p:sp>
        <p:nvSpPr>
          <p:cNvPr id="11" name="algo-4">
            <a:extLst>
              <a:ext uri="{FF2B5EF4-FFF2-40B4-BE49-F238E27FC236}">
                <a16:creationId xmlns:a16="http://schemas.microsoft.com/office/drawing/2014/main" id="{A1EC327D-BEF9-4A81-AA19-34B8AE6BAEE6}"/>
              </a:ext>
            </a:extLst>
          </p:cNvPr>
          <p:cNvSpPr>
            <a:spLocks noGrp="1"/>
          </p:cNvSpPr>
          <p:nvPr/>
        </p:nvSpPr>
        <p:spPr>
          <a:xfrm>
            <a:off x="6096000" y="4953000"/>
            <a:ext cx="6096000" cy="190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技能图谱</a:t>
            </a:r>
            <a:endParaRPr dirty="0"/>
          </a:p>
        </p:txBody>
      </p:sp>
      <p:sp>
        <p:nvSpPr>
          <p:cNvPr id="12" name="algo-4-d">
            <a:extLst>
              <a:ext uri="{FF2B5EF4-FFF2-40B4-BE49-F238E27FC236}">
                <a16:creationId xmlns:a16="http://schemas.microsoft.com/office/drawing/2014/main" id="{AB2DC55E-5801-48C4-8EB7-308502D2C665}"/>
              </a:ext>
            </a:extLst>
          </p:cNvPr>
          <p:cNvSpPr>
            <a:spLocks noGrp="1"/>
          </p:cNvSpPr>
          <p:nvPr/>
        </p:nvSpPr>
        <p:spPr>
          <a:xfrm>
            <a:off x="6096000" y="5391150"/>
            <a:ext cx="6096000" cy="1466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词频词云 + 技能共现网络</a:t>
            </a:r>
          </a:p>
        </p:txBody>
      </p:sp>
      <p:sp>
        <p:nvSpPr>
          <p:cNvPr id="13" name="footer-left">
            <a:extLst>
              <a:ext uri="{FF2B5EF4-FFF2-40B4-BE49-F238E27FC236}">
                <a16:creationId xmlns:a16="http://schemas.microsoft.com/office/drawing/2014/main" id="{A2E38AA1-04EF-45E5-9B4E-9C8BDA49E92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4" name="footer-page">
            <a:extLst>
              <a:ext uri="{FF2B5EF4-FFF2-40B4-BE49-F238E27FC236}">
                <a16:creationId xmlns:a16="http://schemas.microsoft.com/office/drawing/2014/main" id="{F4F7C28A-5EEC-48D3-807A-CBBAC8F98F6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graphicFrame>
        <p:nvGraphicFramePr>
          <p:cNvPr id="30" name="Chart"/>
          <p:cNvGraphicFramePr/>
          <p:nvPr>
            <p:extLst>
              <p:ext uri="{D42A27DB-BD31-4B8C-83A1-F6EECF244321}">
                <p14:modId xmlns:p14="http://schemas.microsoft.com/office/powerpoint/2010/main" val="3647715302"/>
              </p:ext>
            </p:extLst>
          </p:nvPr>
        </p:nvGraphicFramePr>
        <p:xfrm>
          <a:off x="685800" y="1936461"/>
          <a:ext cx="44196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69543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DE24FBE6-522A-4546-8094-32E7C71A96F8}"/>
              </a:ext>
            </a:extLst>
          </p:cNvPr>
          <p:cNvSpPr>
            <a:spLocks noGrp="1"/>
          </p:cNvSpPr>
          <p:nvPr/>
        </p:nvSpPr>
        <p:spPr>
          <a:xfrm>
            <a:off x="355600" y="-1732"/>
            <a:ext cx="11734800" cy="14287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个性化推荐：简历画像</a:t>
            </a:r>
            <a:r>
              <a:rPr dirty="0"/>
              <a:t> × </a:t>
            </a:r>
            <a:r>
              <a:rPr dirty="0" err="1"/>
              <a:t>职位文本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7105BABE-5BC4-4D33-816E-CFBD566BED65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rec-head">
            <a:extLst>
              <a:ext uri="{FF2B5EF4-FFF2-40B4-BE49-F238E27FC236}">
                <a16:creationId xmlns:a16="http://schemas.microsoft.com/office/drawing/2014/main" id="{8B2DCBDA-1150-4CBB-8E6E-6BE6E89B728D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734800" cy="542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原理</a:t>
            </a:r>
          </a:p>
        </p:txBody>
      </p:sp>
      <p:sp>
        <p:nvSpPr>
          <p:cNvPr id="4" name="rec-1">
            <a:extLst>
              <a:ext uri="{FF2B5EF4-FFF2-40B4-BE49-F238E27FC236}">
                <a16:creationId xmlns:a16="http://schemas.microsoft.com/office/drawing/2014/main" id="{EBABFEB2-D659-460F-88BD-F6748AFB744F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11734800" cy="4800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硬过滤：城市 / 学历 / 期望薪资先缩小候选集</a:t>
            </a:r>
          </a:p>
        </p:txBody>
      </p:sp>
      <p:sp>
        <p:nvSpPr>
          <p:cNvPr id="5" name="rec-2">
            <a:extLst>
              <a:ext uri="{FF2B5EF4-FFF2-40B4-BE49-F238E27FC236}">
                <a16:creationId xmlns:a16="http://schemas.microsoft.com/office/drawing/2014/main" id="{5B291482-904D-4D75-A25D-2314522497AB}"/>
              </a:ext>
            </a:extLst>
          </p:cNvPr>
          <p:cNvSpPr>
            <a:spLocks noGrp="1"/>
          </p:cNvSpPr>
          <p:nvPr/>
        </p:nvSpPr>
        <p:spPr>
          <a:xfrm>
            <a:off x="457200" y="2609850"/>
            <a:ext cx="11734800" cy="4248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TF-IDF 向量化（jieba 分词，中英混合）</a:t>
            </a:r>
          </a:p>
        </p:txBody>
      </p:sp>
      <p:sp>
        <p:nvSpPr>
          <p:cNvPr id="6" name="rec-3">
            <a:extLst>
              <a:ext uri="{FF2B5EF4-FFF2-40B4-BE49-F238E27FC236}">
                <a16:creationId xmlns:a16="http://schemas.microsoft.com/office/drawing/2014/main" id="{4AD3CE10-CB69-4690-9C78-57819DBDA01C}"/>
              </a:ext>
            </a:extLst>
          </p:cNvPr>
          <p:cNvSpPr>
            <a:spLocks noGrp="1"/>
          </p:cNvSpPr>
          <p:nvPr/>
        </p:nvSpPr>
        <p:spPr>
          <a:xfrm>
            <a:off x="457200" y="3162300"/>
            <a:ext cx="11734800" cy="3695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余弦相似度打分，输出 Top-N 与匹配度</a:t>
            </a:r>
          </a:p>
        </p:txBody>
      </p:sp>
      <p:sp>
        <p:nvSpPr>
          <p:cNvPr id="7" name="rec-4">
            <a:extLst>
              <a:ext uri="{FF2B5EF4-FFF2-40B4-BE49-F238E27FC236}">
                <a16:creationId xmlns:a16="http://schemas.microsoft.com/office/drawing/2014/main" id="{6806F17A-0630-4001-87CC-2898771C1D65}"/>
              </a:ext>
            </a:extLst>
          </p:cNvPr>
          <p:cNvSpPr>
            <a:spLocks noGrp="1"/>
          </p:cNvSpPr>
          <p:nvPr/>
        </p:nvSpPr>
        <p:spPr>
          <a:xfrm>
            <a:off x="457200" y="3714750"/>
            <a:ext cx="11734800" cy="3143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匹配度</a:t>
            </a:r>
            <a:r>
              <a:rPr dirty="0"/>
              <a:t> = </a:t>
            </a:r>
            <a:r>
              <a:rPr dirty="0" err="1"/>
              <a:t>画像与岗位文本的语义重合度</a:t>
            </a:r>
            <a:endParaRPr dirty="0"/>
          </a:p>
        </p:txBody>
      </p:sp>
      <p:graphicFrame>
        <p:nvGraphicFramePr>
          <p:cNvPr id="19" name="rec-table"/>
          <p:cNvGraphicFramePr/>
          <p:nvPr/>
        </p:nvGraphicFramePr>
        <p:xfrm>
          <a:off x="5905500" y="1714500"/>
          <a:ext cx="5829300" cy="51435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t>职位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月薪(K)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匹配度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t>Python开发工程师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云创网络有限公司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dirty="0" err="1"/>
                        <a:t>Python开发工程师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星合软件有限公司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t>Python开发工程师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蓝合科技有限公司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t>Python开发工程师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锐数软件有限公司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t>数据挖掘工程师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蓝创网络有限公司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0.296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-caption">
            <a:extLst>
              <a:ext uri="{FF2B5EF4-FFF2-40B4-BE49-F238E27FC236}">
                <a16:creationId xmlns:a16="http://schemas.microsoft.com/office/drawing/2014/main" id="{40BA5FC0-B0A9-43B1-80D6-7D7C51AF52A2}"/>
              </a:ext>
            </a:extLst>
          </p:cNvPr>
          <p:cNvSpPr>
            <a:spLocks noGrp="1"/>
          </p:cNvSpPr>
          <p:nvPr/>
        </p:nvSpPr>
        <p:spPr>
          <a:xfrm>
            <a:off x="457200" y="4476750"/>
            <a:ext cx="11734800" cy="2381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输入：python、数据分析、sql</a:t>
            </a:r>
            <a:r>
              <a:rPr dirty="0"/>
              <a:t> ｜ </a:t>
            </a:r>
            <a:r>
              <a:rPr dirty="0" err="1"/>
              <a:t>上海</a:t>
            </a:r>
            <a:r>
              <a:rPr dirty="0"/>
              <a:t> ｜ </a:t>
            </a:r>
            <a:r>
              <a:rPr dirty="0" err="1"/>
              <a:t>本科</a:t>
            </a:r>
            <a:r>
              <a:rPr dirty="0"/>
              <a:t> ｜ </a:t>
            </a:r>
            <a:r>
              <a:rPr dirty="0" err="1"/>
              <a:t>期望</a:t>
            </a:r>
            <a:r>
              <a:rPr dirty="0"/>
              <a:t> ≤30K</a:t>
            </a:r>
          </a:p>
        </p:txBody>
      </p:sp>
      <p:sp>
        <p:nvSpPr>
          <p:cNvPr id="10" name="footer-left">
            <a:extLst>
              <a:ext uri="{FF2B5EF4-FFF2-40B4-BE49-F238E27FC236}">
                <a16:creationId xmlns:a16="http://schemas.microsoft.com/office/drawing/2014/main" id="{DE9B9E45-EE2D-463B-A91C-2E49E80A9C58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1" name="footer-page">
            <a:extLst>
              <a:ext uri="{FF2B5EF4-FFF2-40B4-BE49-F238E27FC236}">
                <a16:creationId xmlns:a16="http://schemas.microsoft.com/office/drawing/2014/main" id="{969B7FC9-8F75-499E-BB2A-0212E55A81D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4968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FA1578FB-18C0-44A1-A36D-8818B044DE4E}"/>
              </a:ext>
            </a:extLst>
          </p:cNvPr>
          <p:cNvSpPr>
            <a:spLocks noGrp="1"/>
          </p:cNvSpPr>
          <p:nvPr/>
        </p:nvSpPr>
        <p:spPr>
          <a:xfrm>
            <a:off x="457200" y="41275"/>
            <a:ext cx="11734800" cy="116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薪资预测：随机森林回归，特征可解释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FD66C3AA-8701-423A-A37F-D06D4E1BB412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chart-panel">
            <a:extLst>
              <a:ext uri="{FF2B5EF4-FFF2-40B4-BE49-F238E27FC236}">
                <a16:creationId xmlns:a16="http://schemas.microsoft.com/office/drawing/2014/main" id="{EB749401-F744-46C3-9C8A-9D7287BAAE9A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chart-caption">
            <a:extLst>
              <a:ext uri="{FF2B5EF4-FFF2-40B4-BE49-F238E27FC236}">
                <a16:creationId xmlns:a16="http://schemas.microsoft.com/office/drawing/2014/main" id="{D66CAE04-184C-4AF9-932B-50DF899D75D6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734800" cy="581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特征重要性（验证集 MAE=1.74K，R²=0.507）</a:t>
            </a:r>
          </a:p>
        </p:txBody>
      </p:sp>
      <p:sp>
        <p:nvSpPr>
          <p:cNvPr id="5" name="metric-1">
            <a:extLst>
              <a:ext uri="{FF2B5EF4-FFF2-40B4-BE49-F238E27FC236}">
                <a16:creationId xmlns:a16="http://schemas.microsoft.com/office/drawing/2014/main" id="{135EC4ED-9C9E-43F0-B05F-29A99E7B7877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6096000" cy="533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MAE</a:t>
            </a:r>
          </a:p>
        </p:txBody>
      </p:sp>
      <p:sp>
        <p:nvSpPr>
          <p:cNvPr id="6" name="metric-1-v">
            <a:extLst>
              <a:ext uri="{FF2B5EF4-FFF2-40B4-BE49-F238E27FC236}">
                <a16:creationId xmlns:a16="http://schemas.microsoft.com/office/drawing/2014/main" id="{743D7B48-D9AC-420C-B381-59F3FD214C61}"/>
              </a:ext>
            </a:extLst>
          </p:cNvPr>
          <p:cNvSpPr>
            <a:spLocks noGrp="1"/>
          </p:cNvSpPr>
          <p:nvPr/>
        </p:nvSpPr>
        <p:spPr>
          <a:xfrm>
            <a:off x="6096000" y="1962150"/>
            <a:ext cx="6096000" cy="4895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1.74K/月</a:t>
            </a:r>
          </a:p>
        </p:txBody>
      </p:sp>
      <p:sp>
        <p:nvSpPr>
          <p:cNvPr id="7" name="metric-2">
            <a:extLst>
              <a:ext uri="{FF2B5EF4-FFF2-40B4-BE49-F238E27FC236}">
                <a16:creationId xmlns:a16="http://schemas.microsoft.com/office/drawing/2014/main" id="{11E312FA-C9F2-4712-9159-7E0C5772BB96}"/>
              </a:ext>
            </a:extLst>
          </p:cNvPr>
          <p:cNvSpPr>
            <a:spLocks noGrp="1"/>
          </p:cNvSpPr>
          <p:nvPr/>
        </p:nvSpPr>
        <p:spPr>
          <a:xfrm>
            <a:off x="8572500" y="1524000"/>
            <a:ext cx="3619500" cy="533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决定系数 R²</a:t>
            </a:r>
          </a:p>
        </p:txBody>
      </p:sp>
      <p:sp>
        <p:nvSpPr>
          <p:cNvPr id="8" name="metric-2-v">
            <a:extLst>
              <a:ext uri="{FF2B5EF4-FFF2-40B4-BE49-F238E27FC236}">
                <a16:creationId xmlns:a16="http://schemas.microsoft.com/office/drawing/2014/main" id="{8D873F39-E094-4407-93AB-BBD7AA4CFA28}"/>
              </a:ext>
            </a:extLst>
          </p:cNvPr>
          <p:cNvSpPr>
            <a:spLocks noGrp="1"/>
          </p:cNvSpPr>
          <p:nvPr/>
        </p:nvSpPr>
        <p:spPr>
          <a:xfrm>
            <a:off x="8572500" y="1962150"/>
            <a:ext cx="3619500" cy="4895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0.507</a:t>
            </a:r>
          </a:p>
        </p:txBody>
      </p:sp>
      <p:sp>
        <p:nvSpPr>
          <p:cNvPr id="9" name="metric-3">
            <a:extLst>
              <a:ext uri="{FF2B5EF4-FFF2-40B4-BE49-F238E27FC236}">
                <a16:creationId xmlns:a16="http://schemas.microsoft.com/office/drawing/2014/main" id="{15408EAE-167C-4338-9BCA-74D7169FC0BE}"/>
              </a:ext>
            </a:extLst>
          </p:cNvPr>
          <p:cNvSpPr>
            <a:spLocks noGrp="1"/>
          </p:cNvSpPr>
          <p:nvPr/>
        </p:nvSpPr>
        <p:spPr>
          <a:xfrm>
            <a:off x="6096000" y="2857500"/>
            <a:ext cx="6096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训练 / 验证样本</a:t>
            </a:r>
          </a:p>
        </p:txBody>
      </p:sp>
      <p:sp>
        <p:nvSpPr>
          <p:cNvPr id="10" name="metric-3-v">
            <a:extLst>
              <a:ext uri="{FF2B5EF4-FFF2-40B4-BE49-F238E27FC236}">
                <a16:creationId xmlns:a16="http://schemas.microsoft.com/office/drawing/2014/main" id="{7433BEB6-6805-4FD0-AF50-EB4ED23EA91B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6096000" cy="3562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224 / 57</a:t>
            </a:r>
          </a:p>
        </p:txBody>
      </p:sp>
      <p:sp>
        <p:nvSpPr>
          <p:cNvPr id="11" name="design-1">
            <a:extLst>
              <a:ext uri="{FF2B5EF4-FFF2-40B4-BE49-F238E27FC236}">
                <a16:creationId xmlns:a16="http://schemas.microsoft.com/office/drawing/2014/main" id="{0D68C575-6F8B-43B7-B48C-44C626769E7D}"/>
              </a:ext>
            </a:extLst>
          </p:cNvPr>
          <p:cNvSpPr>
            <a:spLocks noGrp="1"/>
          </p:cNvSpPr>
          <p:nvPr/>
        </p:nvSpPr>
        <p:spPr>
          <a:xfrm>
            <a:off x="6096000" y="4191000"/>
            <a:ext cx="6096000" cy="2667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Pipeline + ColumnTransformer 防数据泄漏</a:t>
            </a:r>
          </a:p>
        </p:txBody>
      </p:sp>
      <p:sp>
        <p:nvSpPr>
          <p:cNvPr id="12" name="design-2">
            <a:extLst>
              <a:ext uri="{FF2B5EF4-FFF2-40B4-BE49-F238E27FC236}">
                <a16:creationId xmlns:a16="http://schemas.microsoft.com/office/drawing/2014/main" id="{4DB44C88-22B6-45AF-82C5-AB73EB4B7B9D}"/>
              </a:ext>
            </a:extLst>
          </p:cNvPr>
          <p:cNvSpPr>
            <a:spLocks noGrp="1"/>
          </p:cNvSpPr>
          <p:nvPr/>
        </p:nvSpPr>
        <p:spPr>
          <a:xfrm>
            <a:off x="6096000" y="4724400"/>
            <a:ext cx="6096000" cy="2133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 random_state，结果可复现</a:t>
            </a:r>
          </a:p>
        </p:txBody>
      </p:sp>
      <p:sp>
        <p:nvSpPr>
          <p:cNvPr id="13" name="design-3">
            <a:extLst>
              <a:ext uri="{FF2B5EF4-FFF2-40B4-BE49-F238E27FC236}">
                <a16:creationId xmlns:a16="http://schemas.microsoft.com/office/drawing/2014/main" id="{A548FFF5-4C99-4311-96EE-02D68D9E139E}"/>
              </a:ext>
            </a:extLst>
          </p:cNvPr>
          <p:cNvSpPr>
            <a:spLocks noGrp="1"/>
          </p:cNvSpPr>
          <p:nvPr/>
        </p:nvSpPr>
        <p:spPr>
          <a:xfrm>
            <a:off x="6096000" y="5257800"/>
            <a:ext cx="6096000" cy="1600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面议岗位不参与训练，避免脏标签</a:t>
            </a:r>
          </a:p>
        </p:txBody>
      </p:sp>
      <p:sp>
        <p:nvSpPr>
          <p:cNvPr id="14" name="footer-left">
            <a:extLst>
              <a:ext uri="{FF2B5EF4-FFF2-40B4-BE49-F238E27FC236}">
                <a16:creationId xmlns:a16="http://schemas.microsoft.com/office/drawing/2014/main" id="{06970F43-B6A6-4827-BAEB-3DCDACCEE07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5" name="footer-page">
            <a:extLst>
              <a:ext uri="{FF2B5EF4-FFF2-40B4-BE49-F238E27FC236}">
                <a16:creationId xmlns:a16="http://schemas.microsoft.com/office/drawing/2014/main" id="{88487AFC-05FD-4E6B-A43A-FE68E2A35F1D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723900" y="1905000"/>
          <a:ext cx="46101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7950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96FA95AF-A4C6-4535-8F08-92C1390F0B8A}"/>
              </a:ext>
            </a:extLst>
          </p:cNvPr>
          <p:cNvSpPr>
            <a:spLocks noGrp="1"/>
          </p:cNvSpPr>
          <p:nvPr/>
        </p:nvSpPr>
        <p:spPr>
          <a:xfrm>
            <a:off x="457200" y="12700"/>
            <a:ext cx="11734800" cy="127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聚类画像</a:t>
            </a:r>
            <a:r>
              <a:rPr dirty="0"/>
              <a:t> + </a:t>
            </a:r>
            <a:r>
              <a:rPr dirty="0" err="1"/>
              <a:t>技能图谱：看见需求结构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2BE836E5-090F-4366-9F59-AF4BCAF31504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wordcloud-panel">
            <a:extLst>
              <a:ext uri="{FF2B5EF4-FFF2-40B4-BE49-F238E27FC236}">
                <a16:creationId xmlns:a16="http://schemas.microsoft.com/office/drawing/2014/main" id="{B6C21A9D-F1A7-41A1-8F65-15AE774FE7F4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wc-caption">
            <a:extLst>
              <a:ext uri="{FF2B5EF4-FFF2-40B4-BE49-F238E27FC236}">
                <a16:creationId xmlns:a16="http://schemas.microsoft.com/office/drawing/2014/main" id="{8D6199D1-AFA6-4877-AF86-67E73BBDA601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734800" cy="581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技能词云（真实数据）</a:t>
            </a:r>
          </a:p>
        </p:txBody>
      </p:sp>
      <p:sp>
        <p:nvSpPr>
          <p:cNvPr id="5" name="cluster-1">
            <a:extLst>
              <a:ext uri="{FF2B5EF4-FFF2-40B4-BE49-F238E27FC236}">
                <a16:creationId xmlns:a16="http://schemas.microsoft.com/office/drawing/2014/main" id="{BF0FB525-B06E-46CA-A106-2DCFE93AB622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905500" cy="523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KMeans 聚类</a:t>
            </a:r>
          </a:p>
        </p:txBody>
      </p:sp>
      <p:sp>
        <p:nvSpPr>
          <p:cNvPr id="6" name="cluster-1-d">
            <a:extLst>
              <a:ext uri="{FF2B5EF4-FFF2-40B4-BE49-F238E27FC236}">
                <a16:creationId xmlns:a16="http://schemas.microsoft.com/office/drawing/2014/main" id="{BD82A03E-B1FC-4C22-9B95-E4ABCDC2B651}"/>
              </a:ext>
            </a:extLst>
          </p:cNvPr>
          <p:cNvSpPr>
            <a:spLocks noGrp="1"/>
          </p:cNvSpPr>
          <p:nvPr/>
        </p:nvSpPr>
        <p:spPr>
          <a:xfrm>
            <a:off x="6286500" y="2057400"/>
            <a:ext cx="5905500" cy="4800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4 个簇，轮廓系数 0.23，每簇输出岗位数 / 平均薪资 / Top 技能</a:t>
            </a:r>
          </a:p>
        </p:txBody>
      </p:sp>
      <p:sp>
        <p:nvSpPr>
          <p:cNvPr id="7" name="graph-1">
            <a:extLst>
              <a:ext uri="{FF2B5EF4-FFF2-40B4-BE49-F238E27FC236}">
                <a16:creationId xmlns:a16="http://schemas.microsoft.com/office/drawing/2014/main" id="{DBE7C7D5-8A71-47EC-B44C-EA5DEDDE2B81}"/>
              </a:ext>
            </a:extLst>
          </p:cNvPr>
          <p:cNvSpPr>
            <a:spLocks noGrp="1"/>
          </p:cNvSpPr>
          <p:nvPr/>
        </p:nvSpPr>
        <p:spPr>
          <a:xfrm>
            <a:off x="6286500" y="3048000"/>
            <a:ext cx="59055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技能共现网络</a:t>
            </a:r>
          </a:p>
        </p:txBody>
      </p:sp>
      <p:sp>
        <p:nvSpPr>
          <p:cNvPr id="8" name="graph-1-d">
            <a:extLst>
              <a:ext uri="{FF2B5EF4-FFF2-40B4-BE49-F238E27FC236}">
                <a16:creationId xmlns:a16="http://schemas.microsoft.com/office/drawing/2014/main" id="{774C816B-C678-4EE5-9B61-E20EF5BA2E8D}"/>
              </a:ext>
            </a:extLst>
          </p:cNvPr>
          <p:cNvSpPr>
            <a:spLocks noGrp="1"/>
          </p:cNvSpPr>
          <p:nvPr/>
        </p:nvSpPr>
        <p:spPr>
          <a:xfrm>
            <a:off x="6286500" y="3486150"/>
            <a:ext cx="5905500" cy="3371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统计同一岗位内的技能组合，展示热门技能搭配（如 python × sql）</a:t>
            </a:r>
          </a:p>
        </p:txBody>
      </p:sp>
      <p:sp>
        <p:nvSpPr>
          <p:cNvPr id="9" name="insight">
            <a:extLst>
              <a:ext uri="{FF2B5EF4-FFF2-40B4-BE49-F238E27FC236}">
                <a16:creationId xmlns:a16="http://schemas.microsoft.com/office/drawing/2014/main" id="{4B3A677F-4228-400C-BF3C-CB376921B71F}"/>
              </a:ext>
            </a:extLst>
          </p:cNvPr>
          <p:cNvSpPr>
            <a:spLocks noGrp="1"/>
          </p:cNvSpPr>
          <p:nvPr/>
        </p:nvSpPr>
        <p:spPr>
          <a:xfrm>
            <a:off x="6286500" y="4476750"/>
            <a:ext cx="5905500" cy="2381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对求职者的意义</a:t>
            </a:r>
          </a:p>
        </p:txBody>
      </p:sp>
      <p:sp>
        <p:nvSpPr>
          <p:cNvPr id="10" name="insight-d">
            <a:extLst>
              <a:ext uri="{FF2B5EF4-FFF2-40B4-BE49-F238E27FC236}">
                <a16:creationId xmlns:a16="http://schemas.microsoft.com/office/drawing/2014/main" id="{FF2A0E46-CBD5-44DD-87E7-8560B9DF166C}"/>
              </a:ext>
            </a:extLst>
          </p:cNvPr>
          <p:cNvSpPr>
            <a:spLocks noGrp="1"/>
          </p:cNvSpPr>
          <p:nvPr/>
        </p:nvSpPr>
        <p:spPr>
          <a:xfrm>
            <a:off x="6286500" y="4914900"/>
            <a:ext cx="5905500" cy="1943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知道热门技能与搭配，规划学习路径与简历关键词</a:t>
            </a:r>
          </a:p>
        </p:txBody>
      </p:sp>
      <p:sp>
        <p:nvSpPr>
          <p:cNvPr id="11" name="footer-left">
            <a:extLst>
              <a:ext uri="{FF2B5EF4-FFF2-40B4-BE49-F238E27FC236}">
                <a16:creationId xmlns:a16="http://schemas.microsoft.com/office/drawing/2014/main" id="{8BB760E9-9771-46F7-A291-04571631588B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2" name="footer-page">
            <a:extLst>
              <a:ext uri="{FF2B5EF4-FFF2-40B4-BE49-F238E27FC236}">
                <a16:creationId xmlns:a16="http://schemas.microsoft.com/office/drawing/2014/main" id="{BF02CC33-2E2A-411C-AE4D-ED31F8537972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6499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DC6212B8-22C8-4F9D-8B5D-B067CBB0D06C}"/>
              </a:ext>
            </a:extLst>
          </p:cNvPr>
          <p:cNvSpPr>
            <a:spLocks noGrp="1"/>
          </p:cNvSpPr>
          <p:nvPr/>
        </p:nvSpPr>
        <p:spPr>
          <a:xfrm>
            <a:off x="457200" y="-19839"/>
            <a:ext cx="11734800" cy="127792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看板：算法结果人人可点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D88210D3-86D7-4A5A-8649-E64DE9B5F650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boxplot-panel">
            <a:extLst>
              <a:ext uri="{FF2B5EF4-FFF2-40B4-BE49-F238E27FC236}">
                <a16:creationId xmlns:a16="http://schemas.microsoft.com/office/drawing/2014/main" id="{6E555049-7748-4D09-AB2E-8406B5BD5133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box-caption">
            <a:extLst>
              <a:ext uri="{FF2B5EF4-FFF2-40B4-BE49-F238E27FC236}">
                <a16:creationId xmlns:a16="http://schemas.microsoft.com/office/drawing/2014/main" id="{54486311-AD46-455A-8B47-3BA32EBFDAFF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734800" cy="581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分城市薪资箱线图（真实数据）</a:t>
            </a:r>
          </a:p>
        </p:txBody>
      </p:sp>
      <p:sp>
        <p:nvSpPr>
          <p:cNvPr id="5" name="page-1">
            <a:extLst>
              <a:ext uri="{FF2B5EF4-FFF2-40B4-BE49-F238E27FC236}">
                <a16:creationId xmlns:a16="http://schemas.microsoft.com/office/drawing/2014/main" id="{E51A7BE3-5D12-48A1-B6BE-342A05E949DD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905500" cy="523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市场总览</a:t>
            </a:r>
          </a:p>
        </p:txBody>
      </p:sp>
      <p:sp>
        <p:nvSpPr>
          <p:cNvPr id="6" name="page-1-d">
            <a:extLst>
              <a:ext uri="{FF2B5EF4-FFF2-40B4-BE49-F238E27FC236}">
                <a16:creationId xmlns:a16="http://schemas.microsoft.com/office/drawing/2014/main" id="{571064B6-337C-4AE7-A957-A12FD8AAB52F}"/>
              </a:ext>
            </a:extLst>
          </p:cNvPr>
          <p:cNvSpPr>
            <a:spLocks noGrp="1"/>
          </p:cNvSpPr>
          <p:nvPr/>
        </p:nvSpPr>
        <p:spPr>
          <a:xfrm>
            <a:off x="6286500" y="2038350"/>
            <a:ext cx="5905500" cy="4819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KPI 指标 + 城市 / 学历 / 岗位分布</a:t>
            </a:r>
          </a:p>
        </p:txBody>
      </p:sp>
      <p:sp>
        <p:nvSpPr>
          <p:cNvPr id="7" name="page-2">
            <a:extLst>
              <a:ext uri="{FF2B5EF4-FFF2-40B4-BE49-F238E27FC236}">
                <a16:creationId xmlns:a16="http://schemas.microsoft.com/office/drawing/2014/main" id="{3789CE49-D36D-4B92-9BE6-10FDE8BF6DB5}"/>
              </a:ext>
            </a:extLst>
          </p:cNvPr>
          <p:cNvSpPr>
            <a:spLocks noGrp="1"/>
          </p:cNvSpPr>
          <p:nvPr/>
        </p:nvSpPr>
        <p:spPr>
          <a:xfrm>
            <a:off x="6286500" y="2667000"/>
            <a:ext cx="5905500" cy="419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薪资分析</a:t>
            </a:r>
          </a:p>
        </p:txBody>
      </p:sp>
      <p:sp>
        <p:nvSpPr>
          <p:cNvPr id="8" name="page-2-d">
            <a:extLst>
              <a:ext uri="{FF2B5EF4-FFF2-40B4-BE49-F238E27FC236}">
                <a16:creationId xmlns:a16="http://schemas.microsoft.com/office/drawing/2014/main" id="{2A1C3A19-156A-40F0-A928-D12D08DCFA66}"/>
              </a:ext>
            </a:extLst>
          </p:cNvPr>
          <p:cNvSpPr>
            <a:spLocks noGrp="1"/>
          </p:cNvSpPr>
          <p:nvPr/>
        </p:nvSpPr>
        <p:spPr>
          <a:xfrm>
            <a:off x="6286500" y="3086100"/>
            <a:ext cx="5905500" cy="3771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箱线图 + 薪资预测器（交互输入）</a:t>
            </a:r>
          </a:p>
        </p:txBody>
      </p:sp>
      <p:sp>
        <p:nvSpPr>
          <p:cNvPr id="9" name="page-3">
            <a:extLst>
              <a:ext uri="{FF2B5EF4-FFF2-40B4-BE49-F238E27FC236}">
                <a16:creationId xmlns:a16="http://schemas.microsoft.com/office/drawing/2014/main" id="{A2370EBE-C5A9-4269-9D24-AEAE2B48CC71}"/>
              </a:ext>
            </a:extLst>
          </p:cNvPr>
          <p:cNvSpPr>
            <a:spLocks noGrp="1"/>
          </p:cNvSpPr>
          <p:nvPr/>
        </p:nvSpPr>
        <p:spPr>
          <a:xfrm>
            <a:off x="6286500" y="3714750"/>
            <a:ext cx="5905500" cy="3143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技能图谱</a:t>
            </a:r>
          </a:p>
        </p:txBody>
      </p:sp>
      <p:sp>
        <p:nvSpPr>
          <p:cNvPr id="10" name="page-3-d">
            <a:extLst>
              <a:ext uri="{FF2B5EF4-FFF2-40B4-BE49-F238E27FC236}">
                <a16:creationId xmlns:a16="http://schemas.microsoft.com/office/drawing/2014/main" id="{63548DED-BA47-409E-A1F4-70FBB29F93FB}"/>
              </a:ext>
            </a:extLst>
          </p:cNvPr>
          <p:cNvSpPr>
            <a:spLocks noGrp="1"/>
          </p:cNvSpPr>
          <p:nvPr/>
        </p:nvSpPr>
        <p:spPr>
          <a:xfrm>
            <a:off x="6286500" y="4133850"/>
            <a:ext cx="5905500" cy="2724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词云 + 共现网络 + 数据表</a:t>
            </a:r>
          </a:p>
        </p:txBody>
      </p:sp>
      <p:sp>
        <p:nvSpPr>
          <p:cNvPr id="11" name="page-4">
            <a:extLst>
              <a:ext uri="{FF2B5EF4-FFF2-40B4-BE49-F238E27FC236}">
                <a16:creationId xmlns:a16="http://schemas.microsoft.com/office/drawing/2014/main" id="{6CE82689-7B23-4F36-8C49-DB22CE225DA8}"/>
              </a:ext>
            </a:extLst>
          </p:cNvPr>
          <p:cNvSpPr>
            <a:spLocks noGrp="1"/>
          </p:cNvSpPr>
          <p:nvPr/>
        </p:nvSpPr>
        <p:spPr>
          <a:xfrm>
            <a:off x="6286500" y="4762500"/>
            <a:ext cx="5905500" cy="2095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我的匹配</a:t>
            </a:r>
          </a:p>
        </p:txBody>
      </p:sp>
      <p:sp>
        <p:nvSpPr>
          <p:cNvPr id="12" name="page-4-d">
            <a:extLst>
              <a:ext uri="{FF2B5EF4-FFF2-40B4-BE49-F238E27FC236}">
                <a16:creationId xmlns:a16="http://schemas.microsoft.com/office/drawing/2014/main" id="{782B3AC4-7BEA-49AD-88EF-83A012A8098B}"/>
              </a:ext>
            </a:extLst>
          </p:cNvPr>
          <p:cNvSpPr>
            <a:spLocks noGrp="1"/>
          </p:cNvSpPr>
          <p:nvPr/>
        </p:nvSpPr>
        <p:spPr>
          <a:xfrm>
            <a:off x="6286500" y="5181600"/>
            <a:ext cx="5905500" cy="167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求职画像表单 → 推荐卡片（可点链接）</a:t>
            </a:r>
          </a:p>
        </p:txBody>
      </p:sp>
      <p:sp>
        <p:nvSpPr>
          <p:cNvPr id="13" name="tech-caption">
            <a:extLst>
              <a:ext uri="{FF2B5EF4-FFF2-40B4-BE49-F238E27FC236}">
                <a16:creationId xmlns:a16="http://schemas.microsoft.com/office/drawing/2014/main" id="{9BE0CE24-B500-4A1F-B8E7-71270768CA35}"/>
              </a:ext>
            </a:extLst>
          </p:cNvPr>
          <p:cNvSpPr>
            <a:spLocks noGrp="1"/>
          </p:cNvSpPr>
          <p:nvPr/>
        </p:nvSpPr>
        <p:spPr>
          <a:xfrm>
            <a:off x="457200" y="6381750"/>
            <a:ext cx="11734800" cy="47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技术点：st.navigation 多页面、缓存加载、原生图表、表单批处理</a:t>
            </a:r>
          </a:p>
        </p:txBody>
      </p:sp>
      <p:sp>
        <p:nvSpPr>
          <p:cNvPr id="14" name="footer-left">
            <a:extLst>
              <a:ext uri="{FF2B5EF4-FFF2-40B4-BE49-F238E27FC236}">
                <a16:creationId xmlns:a16="http://schemas.microsoft.com/office/drawing/2014/main" id="{4C4A1469-8729-4B03-8EAC-7FDE69589951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5" name="footer-page">
            <a:extLst>
              <a:ext uri="{FF2B5EF4-FFF2-40B4-BE49-F238E27FC236}">
                <a16:creationId xmlns:a16="http://schemas.microsoft.com/office/drawing/2014/main" id="{88CA207B-2D9D-4F3F-B184-CCAF882A5B5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573328"/>
            <a:ext cx="4800600" cy="2378094"/>
          </a:xfrm>
          <a:prstGeom prst="roundRect">
            <a:avLst>
              <a:gd name="adj" fmla="val 1860"/>
            </a:avLst>
          </a:prstGeom>
        </p:spPr>
      </p:pic>
    </p:spTree>
    <p:extLst>
      <p:ext uri="{BB962C8B-B14F-4D97-AF65-F5344CB8AC3E}">
        <p14:creationId xmlns:p14="http://schemas.microsoft.com/office/powerpoint/2010/main" val="270693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C0CBD7BC-5C61-4E10-8DD3-FAA063ABF845}"/>
              </a:ext>
            </a:extLst>
          </p:cNvPr>
          <p:cNvSpPr>
            <a:spLocks noGrp="1"/>
          </p:cNvSpPr>
          <p:nvPr/>
        </p:nvSpPr>
        <p:spPr>
          <a:xfrm>
            <a:off x="457200" y="-33770"/>
            <a:ext cx="11734800" cy="9525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自动化闭环：从“看数据”到“自动报告</a:t>
            </a:r>
            <a:r>
              <a:rPr dirty="0"/>
              <a:t>”</a:t>
            </a:r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6FCE4201-D737-434C-BB90-E78BDADA7DE6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auto-num-0">
            <a:extLst>
              <a:ext uri="{FF2B5EF4-FFF2-40B4-BE49-F238E27FC236}">
                <a16:creationId xmlns:a16="http://schemas.microsoft.com/office/drawing/2014/main" id="{378929AC-9409-46C6-97FE-61BF9404CF00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1734800" cy="523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4" name="auto-name-0">
            <a:extLst>
              <a:ext uri="{FF2B5EF4-FFF2-40B4-BE49-F238E27FC236}">
                <a16:creationId xmlns:a16="http://schemas.microsoft.com/office/drawing/2014/main" id="{E2EB1849-2A57-4290-8061-39A103224B24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0763250" cy="523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定时增量爬取</a:t>
            </a:r>
          </a:p>
        </p:txBody>
      </p:sp>
      <p:sp>
        <p:nvSpPr>
          <p:cNvPr id="5" name="auto-desc-0">
            <a:extLst>
              <a:ext uri="{FF2B5EF4-FFF2-40B4-BE49-F238E27FC236}">
                <a16:creationId xmlns:a16="http://schemas.microsoft.com/office/drawing/2014/main" id="{9FD5DEC6-4153-4E7C-9BC1-0167B8D51B0A}"/>
              </a:ext>
            </a:extLst>
          </p:cNvPr>
          <p:cNvSpPr>
            <a:spLocks noGrp="1"/>
          </p:cNvSpPr>
          <p:nvPr/>
        </p:nvSpPr>
        <p:spPr>
          <a:xfrm>
            <a:off x="4572000" y="1695450"/>
            <a:ext cx="7620000" cy="5162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APScheduler 按配置频率抓取新增职位</a:t>
            </a:r>
          </a:p>
        </p:txBody>
      </p:sp>
      <p:sp>
        <p:nvSpPr>
          <p:cNvPr id="6" name="rule-48-252">
            <a:extLst>
              <a:ext uri="{FF2B5EF4-FFF2-40B4-BE49-F238E27FC236}">
                <a16:creationId xmlns:a16="http://schemas.microsoft.com/office/drawing/2014/main" id="{D9699DF2-7C70-493F-A0E3-794A407EB312}"/>
              </a:ext>
            </a:extLst>
          </p:cNvPr>
          <p:cNvSpPr>
            <a:spLocks noGrp="1"/>
          </p:cNvSpPr>
          <p:nvPr/>
        </p:nvSpPr>
        <p:spPr>
          <a:xfrm>
            <a:off x="457200" y="24003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7" name="auto-num-1">
            <a:extLst>
              <a:ext uri="{FF2B5EF4-FFF2-40B4-BE49-F238E27FC236}">
                <a16:creationId xmlns:a16="http://schemas.microsoft.com/office/drawing/2014/main" id="{9042ED60-FB2D-4E4E-A833-A88B23429ADB}"/>
              </a:ext>
            </a:extLst>
          </p:cNvPr>
          <p:cNvSpPr>
            <a:spLocks noGrp="1"/>
          </p:cNvSpPr>
          <p:nvPr/>
        </p:nvSpPr>
        <p:spPr>
          <a:xfrm>
            <a:off x="457200" y="2647950"/>
            <a:ext cx="11734800" cy="421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8" name="auto-name-1">
            <a:extLst>
              <a:ext uri="{FF2B5EF4-FFF2-40B4-BE49-F238E27FC236}">
                <a16:creationId xmlns:a16="http://schemas.microsoft.com/office/drawing/2014/main" id="{0AE34239-B739-45BB-AEF4-CC979B8EEDD9}"/>
              </a:ext>
            </a:extLst>
          </p:cNvPr>
          <p:cNvSpPr>
            <a:spLocks noGrp="1"/>
          </p:cNvSpPr>
          <p:nvPr/>
        </p:nvSpPr>
        <p:spPr>
          <a:xfrm>
            <a:off x="1428750" y="2628900"/>
            <a:ext cx="10763250" cy="421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自动清洗入库</a:t>
            </a:r>
            <a:endParaRPr dirty="0"/>
          </a:p>
        </p:txBody>
      </p:sp>
      <p:sp>
        <p:nvSpPr>
          <p:cNvPr id="9" name="auto-desc-1">
            <a:extLst>
              <a:ext uri="{FF2B5EF4-FFF2-40B4-BE49-F238E27FC236}">
                <a16:creationId xmlns:a16="http://schemas.microsoft.com/office/drawing/2014/main" id="{6CE1DCD4-1EF0-403A-8F7E-AE1AD8479EC8}"/>
              </a:ext>
            </a:extLst>
          </p:cNvPr>
          <p:cNvSpPr>
            <a:spLocks noGrp="1"/>
          </p:cNvSpPr>
          <p:nvPr/>
        </p:nvSpPr>
        <p:spPr>
          <a:xfrm>
            <a:off x="4572000" y="2724150"/>
            <a:ext cx="7620000" cy="413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新数据进入同一清洗流水线与 SQLite</a:t>
            </a:r>
          </a:p>
        </p:txBody>
      </p:sp>
      <p:sp>
        <p:nvSpPr>
          <p:cNvPr id="10" name="rule-48-360">
            <a:extLst>
              <a:ext uri="{FF2B5EF4-FFF2-40B4-BE49-F238E27FC236}">
                <a16:creationId xmlns:a16="http://schemas.microsoft.com/office/drawing/2014/main" id="{1EF11228-C348-4541-9FD4-CF0B6D46AB59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auto-num-2">
            <a:extLst>
              <a:ext uri="{FF2B5EF4-FFF2-40B4-BE49-F238E27FC236}">
                <a16:creationId xmlns:a16="http://schemas.microsoft.com/office/drawing/2014/main" id="{CD7009F0-1CEA-4B61-B26A-C65D3C87B468}"/>
              </a:ext>
            </a:extLst>
          </p:cNvPr>
          <p:cNvSpPr>
            <a:spLocks noGrp="1"/>
          </p:cNvSpPr>
          <p:nvPr/>
        </p:nvSpPr>
        <p:spPr>
          <a:xfrm>
            <a:off x="457200" y="3676650"/>
            <a:ext cx="11734800" cy="3181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2" name="auto-name-2">
            <a:extLst>
              <a:ext uri="{FF2B5EF4-FFF2-40B4-BE49-F238E27FC236}">
                <a16:creationId xmlns:a16="http://schemas.microsoft.com/office/drawing/2014/main" id="{9BBAB92D-93E1-4B0B-B637-B75378BAB4E4}"/>
              </a:ext>
            </a:extLst>
          </p:cNvPr>
          <p:cNvSpPr>
            <a:spLocks noGrp="1"/>
          </p:cNvSpPr>
          <p:nvPr/>
        </p:nvSpPr>
        <p:spPr>
          <a:xfrm>
            <a:off x="1428750" y="3676650"/>
            <a:ext cx="10763250" cy="3181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每日匹配报告</a:t>
            </a:r>
          </a:p>
        </p:txBody>
      </p:sp>
      <p:sp>
        <p:nvSpPr>
          <p:cNvPr id="13" name="auto-desc-2">
            <a:extLst>
              <a:ext uri="{FF2B5EF4-FFF2-40B4-BE49-F238E27FC236}">
                <a16:creationId xmlns:a16="http://schemas.microsoft.com/office/drawing/2014/main" id="{D9032783-0906-4561-BE64-F7C65DE0B092}"/>
              </a:ext>
            </a:extLst>
          </p:cNvPr>
          <p:cNvSpPr>
            <a:spLocks noGrp="1"/>
          </p:cNvSpPr>
          <p:nvPr/>
        </p:nvSpPr>
        <p:spPr>
          <a:xfrm>
            <a:off x="4572000" y="3752850"/>
            <a:ext cx="7620000" cy="3105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按用户画像计算匹配度，输出 Top 岗位与理由</a:t>
            </a:r>
          </a:p>
        </p:txBody>
      </p:sp>
      <p:sp>
        <p:nvSpPr>
          <p:cNvPr id="14" name="rule-48-468">
            <a:extLst>
              <a:ext uri="{FF2B5EF4-FFF2-40B4-BE49-F238E27FC236}">
                <a16:creationId xmlns:a16="http://schemas.microsoft.com/office/drawing/2014/main" id="{0A1E641D-1F21-41EF-B6D8-C9EAAA41951E}"/>
              </a:ext>
            </a:extLst>
          </p:cNvPr>
          <p:cNvSpPr>
            <a:spLocks noGrp="1"/>
          </p:cNvSpPr>
          <p:nvPr/>
        </p:nvSpPr>
        <p:spPr>
          <a:xfrm>
            <a:off x="457200" y="4457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5" name="auto-num-3">
            <a:extLst>
              <a:ext uri="{FF2B5EF4-FFF2-40B4-BE49-F238E27FC236}">
                <a16:creationId xmlns:a16="http://schemas.microsoft.com/office/drawing/2014/main" id="{3F9033A0-DA63-466A-B457-4FBB29F601E2}"/>
              </a:ext>
            </a:extLst>
          </p:cNvPr>
          <p:cNvSpPr>
            <a:spLocks noGrp="1"/>
          </p:cNvSpPr>
          <p:nvPr/>
        </p:nvSpPr>
        <p:spPr>
          <a:xfrm>
            <a:off x="457200" y="4705350"/>
            <a:ext cx="11734800" cy="2152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6" name="auto-name-3">
            <a:extLst>
              <a:ext uri="{FF2B5EF4-FFF2-40B4-BE49-F238E27FC236}">
                <a16:creationId xmlns:a16="http://schemas.microsoft.com/office/drawing/2014/main" id="{EBBFC81A-2DA5-4D81-89E6-62DBF751412E}"/>
              </a:ext>
            </a:extLst>
          </p:cNvPr>
          <p:cNvSpPr>
            <a:spLocks noGrp="1"/>
          </p:cNvSpPr>
          <p:nvPr/>
        </p:nvSpPr>
        <p:spPr>
          <a:xfrm>
            <a:off x="1428750" y="4705350"/>
            <a:ext cx="10763250" cy="2152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投递材料包</a:t>
            </a:r>
          </a:p>
        </p:txBody>
      </p:sp>
      <p:sp>
        <p:nvSpPr>
          <p:cNvPr id="17" name="auto-desc-3">
            <a:extLst>
              <a:ext uri="{FF2B5EF4-FFF2-40B4-BE49-F238E27FC236}">
                <a16:creationId xmlns:a16="http://schemas.microsoft.com/office/drawing/2014/main" id="{CC7B36F4-25CE-4D8C-A411-69ACCC9B597C}"/>
              </a:ext>
            </a:extLst>
          </p:cNvPr>
          <p:cNvSpPr>
            <a:spLocks noGrp="1"/>
          </p:cNvSpPr>
          <p:nvPr/>
        </p:nvSpPr>
        <p:spPr>
          <a:xfrm>
            <a:off x="4572000" y="4781550"/>
            <a:ext cx="7620000" cy="2076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自动生成匹配亮点摘要，供人工投递</a:t>
            </a:r>
          </a:p>
        </p:txBody>
      </p:sp>
      <p:sp>
        <p:nvSpPr>
          <p:cNvPr id="18" name="auto-boundary">
            <a:extLst>
              <a:ext uri="{FF2B5EF4-FFF2-40B4-BE49-F238E27FC236}">
                <a16:creationId xmlns:a16="http://schemas.microsoft.com/office/drawing/2014/main" id="{78C64BBA-DCE4-47C1-8F5E-299833DF6CED}"/>
              </a:ext>
            </a:extLst>
          </p:cNvPr>
          <p:cNvSpPr>
            <a:spLocks noGrp="1"/>
          </p:cNvSpPr>
          <p:nvPr/>
        </p:nvSpPr>
        <p:spPr>
          <a:xfrm>
            <a:off x="457200" y="5905500"/>
            <a:ext cx="117348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合规边界：只自动准备材料，不代替用户投递简历</a:t>
            </a:r>
          </a:p>
        </p:txBody>
      </p:sp>
      <p:sp>
        <p:nvSpPr>
          <p:cNvPr id="19" name="footer-left">
            <a:extLst>
              <a:ext uri="{FF2B5EF4-FFF2-40B4-BE49-F238E27FC236}">
                <a16:creationId xmlns:a16="http://schemas.microsoft.com/office/drawing/2014/main" id="{FA89CCAE-6CD9-42BF-9BBC-095B2AF197D2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20" name="footer-page">
            <a:extLst>
              <a:ext uri="{FF2B5EF4-FFF2-40B4-BE49-F238E27FC236}">
                <a16:creationId xmlns:a16="http://schemas.microsoft.com/office/drawing/2014/main" id="{0EB814E5-3EEF-45C0-8AA5-7EC0C6F2596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9890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C69A3804-CAA5-4486-A6FA-79FE26AEDAB9}"/>
              </a:ext>
            </a:extLst>
          </p:cNvPr>
          <p:cNvSpPr>
            <a:spLocks noGrp="1"/>
          </p:cNvSpPr>
          <p:nvPr/>
        </p:nvSpPr>
        <p:spPr>
          <a:xfrm>
            <a:off x="457200" y="301658"/>
            <a:ext cx="11734800" cy="64573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五个人，一条流水线</a:t>
            </a:r>
            <a:endParaRPr dirty="0"/>
          </a:p>
        </p:txBody>
      </p:sp>
      <p:graphicFrame>
        <p:nvGraphicFramePr>
          <p:cNvPr id="7" name="team-table"/>
          <p:cNvGraphicFramePr/>
          <p:nvPr>
            <p:extLst>
              <p:ext uri="{D42A27DB-BD31-4B8C-83A1-F6EECF244321}">
                <p14:modId xmlns:p14="http://schemas.microsoft.com/office/powerpoint/2010/main" val="4180976774"/>
              </p:ext>
            </p:extLst>
          </p:nvPr>
        </p:nvGraphicFramePr>
        <p:xfrm>
          <a:off x="457200" y="1190625"/>
          <a:ext cx="11277600" cy="5238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3125">
                <a:tc>
                  <a:txBody>
                    <a:bodyPr/>
                    <a:lstStyle/>
                    <a:p>
                      <a:r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负责模块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答辩展示点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t>组长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架构 / 进度 / 联调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总体演示、架构、协作记录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dirty="0" err="1"/>
                        <a:t>成员</a:t>
                      </a:r>
                      <a:r>
                        <a:rPr dirty="0"/>
                        <a:t>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采集层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反爬对策、BFS/DFS 调度、解析规则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t>成员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清洗前后对比、数据字典、SQLite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t>成员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算法层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推荐 + 薪资预测模型与评估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t>成员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可视化 / 自动化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图表选型、页面交互、自动报告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am-caption">
            <a:extLst>
              <a:ext uri="{FF2B5EF4-FFF2-40B4-BE49-F238E27FC236}">
                <a16:creationId xmlns:a16="http://schemas.microsoft.com/office/drawing/2014/main" id="{8C01408E-E79E-4F2D-BCE0-3DC3C37EB5B0}"/>
              </a:ext>
            </a:extLst>
          </p:cNvPr>
          <p:cNvSpPr>
            <a:spLocks noGrp="1"/>
          </p:cNvSpPr>
          <p:nvPr/>
        </p:nvSpPr>
        <p:spPr>
          <a:xfrm>
            <a:off x="457200" y="6000750"/>
            <a:ext cx="11734800" cy="857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每位成员负责模块可独立演示、可随机抽题；模块间通过 CSV/SQLite 接口解耦</a:t>
            </a:r>
          </a:p>
        </p:txBody>
      </p:sp>
      <p:sp>
        <p:nvSpPr>
          <p:cNvPr id="4" name="footer-left">
            <a:extLst>
              <a:ext uri="{FF2B5EF4-FFF2-40B4-BE49-F238E27FC236}">
                <a16:creationId xmlns:a16="http://schemas.microsoft.com/office/drawing/2014/main" id="{B7579B3D-0A34-4C4B-8B2E-AE020D21B8D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5" name="footer-page">
            <a:extLst>
              <a:ext uri="{FF2B5EF4-FFF2-40B4-BE49-F238E27FC236}">
                <a16:creationId xmlns:a16="http://schemas.microsoft.com/office/drawing/2014/main" id="{2E16A0AD-4C49-4EDA-8FF0-C7DAC30A37D2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498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F1175ED0-8487-4802-973F-F7F953D2664C}"/>
              </a:ext>
            </a:extLst>
          </p:cNvPr>
          <p:cNvSpPr>
            <a:spLocks noGrp="1"/>
          </p:cNvSpPr>
          <p:nvPr/>
        </p:nvSpPr>
        <p:spPr>
          <a:xfrm>
            <a:off x="457200" y="-142875"/>
            <a:ext cx="11734800" cy="14859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六天开发：里程碑驱动的迭代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B819E592-A7F5-402D-BFF0-09AA52825603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ms-num-0">
            <a:extLst>
              <a:ext uri="{FF2B5EF4-FFF2-40B4-BE49-F238E27FC236}">
                <a16:creationId xmlns:a16="http://schemas.microsoft.com/office/drawing/2014/main" id="{AE10E806-59A9-4D36-BC9F-378D92DFF8B3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734800" cy="542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M1</a:t>
            </a:r>
          </a:p>
        </p:txBody>
      </p:sp>
      <p:sp>
        <p:nvSpPr>
          <p:cNvPr id="4" name="ms-name-0">
            <a:extLst>
              <a:ext uri="{FF2B5EF4-FFF2-40B4-BE49-F238E27FC236}">
                <a16:creationId xmlns:a16="http://schemas.microsoft.com/office/drawing/2014/main" id="{5DC2F6B9-D677-42D0-97B6-AFC59D7BC6C9}"/>
              </a:ext>
            </a:extLst>
          </p:cNvPr>
          <p:cNvSpPr>
            <a:spLocks noGrp="1"/>
          </p:cNvSpPr>
          <p:nvPr/>
        </p:nvSpPr>
        <p:spPr>
          <a:xfrm>
            <a:off x="1619250" y="1428750"/>
            <a:ext cx="10572750" cy="542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概念验证</a:t>
            </a:r>
          </a:p>
        </p:txBody>
      </p:sp>
      <p:sp>
        <p:nvSpPr>
          <p:cNvPr id="5" name="ms-desc-0">
            <a:extLst>
              <a:ext uri="{FF2B5EF4-FFF2-40B4-BE49-F238E27FC236}">
                <a16:creationId xmlns:a16="http://schemas.microsoft.com/office/drawing/2014/main" id="{BF098839-6DD5-4CBC-9B9C-7C8C6F3815E2}"/>
              </a:ext>
            </a:extLst>
          </p:cNvPr>
          <p:cNvSpPr>
            <a:spLocks noGrp="1"/>
          </p:cNvSpPr>
          <p:nvPr/>
        </p:nvSpPr>
        <p:spPr>
          <a:xfrm>
            <a:off x="3810000" y="1485900"/>
            <a:ext cx="8382000" cy="5372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Day1–2：立项通过，爬通数据 + 算法雏形 + 可运行原型</a:t>
            </a:r>
          </a:p>
        </p:txBody>
      </p:sp>
      <p:sp>
        <p:nvSpPr>
          <p:cNvPr id="6" name="rule-48-230">
            <a:extLst>
              <a:ext uri="{FF2B5EF4-FFF2-40B4-BE49-F238E27FC236}">
                <a16:creationId xmlns:a16="http://schemas.microsoft.com/office/drawing/2014/main" id="{4C4345CB-5395-40FF-A91D-C19A30D0C084}"/>
              </a:ext>
            </a:extLst>
          </p:cNvPr>
          <p:cNvSpPr>
            <a:spLocks noGrp="1"/>
          </p:cNvSpPr>
          <p:nvPr/>
        </p:nvSpPr>
        <p:spPr>
          <a:xfrm>
            <a:off x="457200" y="21907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7" name="ms-num-1">
            <a:extLst>
              <a:ext uri="{FF2B5EF4-FFF2-40B4-BE49-F238E27FC236}">
                <a16:creationId xmlns:a16="http://schemas.microsoft.com/office/drawing/2014/main" id="{82A0F277-1163-4644-96F3-AA9AC4DBA35B}"/>
              </a:ext>
            </a:extLst>
          </p:cNvPr>
          <p:cNvSpPr>
            <a:spLocks noGrp="1"/>
          </p:cNvSpPr>
          <p:nvPr/>
        </p:nvSpPr>
        <p:spPr>
          <a:xfrm>
            <a:off x="457200" y="2419350"/>
            <a:ext cx="11734800" cy="443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M2</a:t>
            </a:r>
          </a:p>
        </p:txBody>
      </p:sp>
      <p:sp>
        <p:nvSpPr>
          <p:cNvPr id="8" name="ms-name-1">
            <a:extLst>
              <a:ext uri="{FF2B5EF4-FFF2-40B4-BE49-F238E27FC236}">
                <a16:creationId xmlns:a16="http://schemas.microsoft.com/office/drawing/2014/main" id="{FC578086-31C7-4859-BCA9-2BE62F62EC26}"/>
              </a:ext>
            </a:extLst>
          </p:cNvPr>
          <p:cNvSpPr>
            <a:spLocks noGrp="1"/>
          </p:cNvSpPr>
          <p:nvPr/>
        </p:nvSpPr>
        <p:spPr>
          <a:xfrm>
            <a:off x="1619250" y="2419350"/>
            <a:ext cx="10572750" cy="443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中期检查</a:t>
            </a:r>
          </a:p>
        </p:txBody>
      </p:sp>
      <p:sp>
        <p:nvSpPr>
          <p:cNvPr id="9" name="ms-desc-1">
            <a:extLst>
              <a:ext uri="{FF2B5EF4-FFF2-40B4-BE49-F238E27FC236}">
                <a16:creationId xmlns:a16="http://schemas.microsoft.com/office/drawing/2014/main" id="{112AF322-98FC-42AE-BD85-FF5A5D746B9B}"/>
              </a:ext>
            </a:extLst>
          </p:cNvPr>
          <p:cNvSpPr>
            <a:spLocks noGrp="1"/>
          </p:cNvSpPr>
          <p:nvPr/>
        </p:nvSpPr>
        <p:spPr>
          <a:xfrm>
            <a:off x="3810000" y="2476500"/>
            <a:ext cx="8382000" cy="438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Day4：全链路可演示，每人提交中期报告</a:t>
            </a:r>
          </a:p>
        </p:txBody>
      </p:sp>
      <p:sp>
        <p:nvSpPr>
          <p:cNvPr id="10" name="rule-48-334">
            <a:extLst>
              <a:ext uri="{FF2B5EF4-FFF2-40B4-BE49-F238E27FC236}">
                <a16:creationId xmlns:a16="http://schemas.microsoft.com/office/drawing/2014/main" id="{4AFAC729-34D5-42AF-85B1-408BB85EC027}"/>
              </a:ext>
            </a:extLst>
          </p:cNvPr>
          <p:cNvSpPr>
            <a:spLocks noGrp="1"/>
          </p:cNvSpPr>
          <p:nvPr/>
        </p:nvSpPr>
        <p:spPr>
          <a:xfrm>
            <a:off x="457200" y="31813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ms-num-2">
            <a:extLst>
              <a:ext uri="{FF2B5EF4-FFF2-40B4-BE49-F238E27FC236}">
                <a16:creationId xmlns:a16="http://schemas.microsoft.com/office/drawing/2014/main" id="{E740F813-3E3A-4779-8677-B941AB1C0782}"/>
              </a:ext>
            </a:extLst>
          </p:cNvPr>
          <p:cNvSpPr>
            <a:spLocks noGrp="1"/>
          </p:cNvSpPr>
          <p:nvPr/>
        </p:nvSpPr>
        <p:spPr>
          <a:xfrm>
            <a:off x="457200" y="3409950"/>
            <a:ext cx="11734800" cy="3448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M3</a:t>
            </a:r>
          </a:p>
        </p:txBody>
      </p:sp>
      <p:sp>
        <p:nvSpPr>
          <p:cNvPr id="12" name="ms-name-2">
            <a:extLst>
              <a:ext uri="{FF2B5EF4-FFF2-40B4-BE49-F238E27FC236}">
                <a16:creationId xmlns:a16="http://schemas.microsoft.com/office/drawing/2014/main" id="{7420E07A-29D0-49A3-96C4-E3DE17E0CEF0}"/>
              </a:ext>
            </a:extLst>
          </p:cNvPr>
          <p:cNvSpPr>
            <a:spLocks noGrp="1"/>
          </p:cNvSpPr>
          <p:nvPr/>
        </p:nvSpPr>
        <p:spPr>
          <a:xfrm>
            <a:off x="1619250" y="3409950"/>
            <a:ext cx="10572750" cy="3448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项目验收</a:t>
            </a:r>
            <a:endParaRPr dirty="0"/>
          </a:p>
        </p:txBody>
      </p:sp>
      <p:sp>
        <p:nvSpPr>
          <p:cNvPr id="13" name="ms-desc-2">
            <a:extLst>
              <a:ext uri="{FF2B5EF4-FFF2-40B4-BE49-F238E27FC236}">
                <a16:creationId xmlns:a16="http://schemas.microsoft.com/office/drawing/2014/main" id="{1126C2D2-49CA-48C6-87C3-BB07CBFA3E40}"/>
              </a:ext>
            </a:extLst>
          </p:cNvPr>
          <p:cNvSpPr>
            <a:spLocks noGrp="1"/>
          </p:cNvSpPr>
          <p:nvPr/>
        </p:nvSpPr>
        <p:spPr>
          <a:xfrm>
            <a:off x="3810000" y="3467100"/>
            <a:ext cx="8382000" cy="3390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Day6：V1.0 </a:t>
            </a:r>
            <a:r>
              <a:rPr dirty="0" err="1"/>
              <a:t>验收，现场答辩</a:t>
            </a:r>
            <a:r>
              <a:rPr dirty="0"/>
              <a:t> + </a:t>
            </a:r>
            <a:r>
              <a:rPr dirty="0" err="1"/>
              <a:t>演示视频</a:t>
            </a:r>
            <a:endParaRPr dirty="0"/>
          </a:p>
        </p:txBody>
      </p:sp>
      <p:sp>
        <p:nvSpPr>
          <p:cNvPr id="14" name="ai-head">
            <a:extLst>
              <a:ext uri="{FF2B5EF4-FFF2-40B4-BE49-F238E27FC236}">
                <a16:creationId xmlns:a16="http://schemas.microsoft.com/office/drawing/2014/main" id="{EB44D2A2-462A-4A3E-84E5-3FD73F782FD4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11734800" cy="2286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工程实践</a:t>
            </a:r>
          </a:p>
        </p:txBody>
      </p:sp>
      <p:sp>
        <p:nvSpPr>
          <p:cNvPr id="15" name="ai-1">
            <a:extLst>
              <a:ext uri="{FF2B5EF4-FFF2-40B4-BE49-F238E27FC236}">
                <a16:creationId xmlns:a16="http://schemas.microsoft.com/office/drawing/2014/main" id="{C3D2CA78-5665-498D-AB98-E16D4D840E70}"/>
              </a:ext>
            </a:extLst>
          </p:cNvPr>
          <p:cNvSpPr>
            <a:spLocks noGrp="1"/>
          </p:cNvSpPr>
          <p:nvPr/>
        </p:nvSpPr>
        <p:spPr>
          <a:xfrm>
            <a:off x="457200" y="5086350"/>
            <a:ext cx="11734800" cy="1771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tdd：每个任务先写 REQUIREMENTS.md，测试先行</a:t>
            </a:r>
          </a:p>
        </p:txBody>
      </p:sp>
      <p:sp>
        <p:nvSpPr>
          <p:cNvPr id="16" name="ai-2">
            <a:extLst>
              <a:ext uri="{FF2B5EF4-FFF2-40B4-BE49-F238E27FC236}">
                <a16:creationId xmlns:a16="http://schemas.microsoft.com/office/drawing/2014/main" id="{05A6A3A9-4758-466E-9EA6-F1CFA3930BF9}"/>
              </a:ext>
            </a:extLst>
          </p:cNvPr>
          <p:cNvSpPr>
            <a:spLocks noGrp="1"/>
          </p:cNvSpPr>
          <p:nvPr/>
        </p:nvSpPr>
        <p:spPr>
          <a:xfrm>
            <a:off x="6096000" y="5086350"/>
            <a:ext cx="6096000" cy="1771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44 个 pytest 用例 + ruff 质量门禁</a:t>
            </a:r>
          </a:p>
        </p:txBody>
      </p:sp>
      <p:sp>
        <p:nvSpPr>
          <p:cNvPr id="17" name="ai-3">
            <a:extLst>
              <a:ext uri="{FF2B5EF4-FFF2-40B4-BE49-F238E27FC236}">
                <a16:creationId xmlns:a16="http://schemas.microsoft.com/office/drawing/2014/main" id="{2AB9B560-E09F-40B2-B307-516A36D55AC5}"/>
              </a:ext>
            </a:extLst>
          </p:cNvPr>
          <p:cNvSpPr>
            <a:spLocks noGrp="1"/>
          </p:cNvSpPr>
          <p:nvPr/>
        </p:nvSpPr>
        <p:spPr>
          <a:xfrm>
            <a:off x="457200" y="5581650"/>
            <a:ext cx="11734800" cy="1276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skill 工作流：streamlit / 数据分析 / 爬虫规范</a:t>
            </a:r>
          </a:p>
        </p:txBody>
      </p:sp>
      <p:sp>
        <p:nvSpPr>
          <p:cNvPr id="18" name="ai-4">
            <a:extLst>
              <a:ext uri="{FF2B5EF4-FFF2-40B4-BE49-F238E27FC236}">
                <a16:creationId xmlns:a16="http://schemas.microsoft.com/office/drawing/2014/main" id="{39F82503-8C67-4740-9BB7-1C5880477466}"/>
              </a:ext>
            </a:extLst>
          </p:cNvPr>
          <p:cNvSpPr>
            <a:spLocks noGrp="1"/>
          </p:cNvSpPr>
          <p:nvPr/>
        </p:nvSpPr>
        <p:spPr>
          <a:xfrm>
            <a:off x="6096000" y="5581650"/>
            <a:ext cx="6096000" cy="1276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提示词与使用记录沉淀到 docs/ai_usage.md</a:t>
            </a:r>
          </a:p>
        </p:txBody>
      </p:sp>
      <p:sp>
        <p:nvSpPr>
          <p:cNvPr id="19" name="footer-left">
            <a:extLst>
              <a:ext uri="{FF2B5EF4-FFF2-40B4-BE49-F238E27FC236}">
                <a16:creationId xmlns:a16="http://schemas.microsoft.com/office/drawing/2014/main" id="{443303F3-87E0-421E-B930-77AEE0350B1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20" name="footer-page">
            <a:extLst>
              <a:ext uri="{FF2B5EF4-FFF2-40B4-BE49-F238E27FC236}">
                <a16:creationId xmlns:a16="http://schemas.microsoft.com/office/drawing/2014/main" id="{C10CA21D-6BC9-4DE6-9981-333A7A38DA9F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46059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41779E87-481A-4F09-AF40-122F2AE1C3E5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1734800" cy="6534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成果可运行，过程可复盘</a:t>
            </a:r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3F8642DE-2ECD-46B2-88B3-0195A9BACDE8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kpi-1">
            <a:extLst>
              <a:ext uri="{FF2B5EF4-FFF2-40B4-BE49-F238E27FC236}">
                <a16:creationId xmlns:a16="http://schemas.microsoft.com/office/drawing/2014/main" id="{0F9EC23F-94B3-48CA-9211-97A8CA5D605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1430000" cy="476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44</a:t>
            </a:r>
          </a:p>
        </p:txBody>
      </p:sp>
      <p:sp>
        <p:nvSpPr>
          <p:cNvPr id="4" name="kpi-1-l">
            <a:extLst>
              <a:ext uri="{FF2B5EF4-FFF2-40B4-BE49-F238E27FC236}">
                <a16:creationId xmlns:a16="http://schemas.microsoft.com/office/drawing/2014/main" id="{A57A5038-1052-442F-8CEE-67141AF89A45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11430000" cy="3848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测试用例全部通过</a:t>
            </a:r>
          </a:p>
        </p:txBody>
      </p:sp>
      <p:sp>
        <p:nvSpPr>
          <p:cNvPr id="5" name="kpi-2">
            <a:extLst>
              <a:ext uri="{FF2B5EF4-FFF2-40B4-BE49-F238E27FC236}">
                <a16:creationId xmlns:a16="http://schemas.microsoft.com/office/drawing/2014/main" id="{005CFC5E-88B9-4C23-8D9D-E0F0328D53DB}"/>
              </a:ext>
            </a:extLst>
          </p:cNvPr>
          <p:cNvSpPr>
            <a:spLocks noGrp="1"/>
          </p:cNvSpPr>
          <p:nvPr/>
        </p:nvSpPr>
        <p:spPr>
          <a:xfrm>
            <a:off x="3238500" y="2095500"/>
            <a:ext cx="8953500" cy="476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6" name="kpi-2-l">
            <a:extLst>
              <a:ext uri="{FF2B5EF4-FFF2-40B4-BE49-F238E27FC236}">
                <a16:creationId xmlns:a16="http://schemas.microsoft.com/office/drawing/2014/main" id="{54AC02B3-28FB-4BBB-8D79-C31F648FA345}"/>
              </a:ext>
            </a:extLst>
          </p:cNvPr>
          <p:cNvSpPr>
            <a:spLocks noGrp="1"/>
          </p:cNvSpPr>
          <p:nvPr/>
        </p:nvSpPr>
        <p:spPr>
          <a:xfrm>
            <a:off x="3238500" y="3009900"/>
            <a:ext cx="8953500" cy="3848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个类型算法</a:t>
            </a:r>
          </a:p>
        </p:txBody>
      </p:sp>
      <p:sp>
        <p:nvSpPr>
          <p:cNvPr id="7" name="kpi-3">
            <a:extLst>
              <a:ext uri="{FF2B5EF4-FFF2-40B4-BE49-F238E27FC236}">
                <a16:creationId xmlns:a16="http://schemas.microsoft.com/office/drawing/2014/main" id="{707D750C-0495-4238-95C5-2E4D0082EFF9}"/>
              </a:ext>
            </a:extLst>
          </p:cNvPr>
          <p:cNvSpPr>
            <a:spLocks noGrp="1"/>
          </p:cNvSpPr>
          <p:nvPr/>
        </p:nvSpPr>
        <p:spPr>
          <a:xfrm>
            <a:off x="5334000" y="2095500"/>
            <a:ext cx="6858000" cy="476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320</a:t>
            </a:r>
          </a:p>
        </p:txBody>
      </p:sp>
      <p:sp>
        <p:nvSpPr>
          <p:cNvPr id="8" name="kpi-3-l">
            <a:extLst>
              <a:ext uri="{FF2B5EF4-FFF2-40B4-BE49-F238E27FC236}">
                <a16:creationId xmlns:a16="http://schemas.microsoft.com/office/drawing/2014/main" id="{FCCEEC89-3DF2-4C01-928F-C293208F4FE1}"/>
              </a:ext>
            </a:extLst>
          </p:cNvPr>
          <p:cNvSpPr>
            <a:spLocks noGrp="1"/>
          </p:cNvSpPr>
          <p:nvPr/>
        </p:nvSpPr>
        <p:spPr>
          <a:xfrm>
            <a:off x="5334000" y="3009900"/>
            <a:ext cx="6858000" cy="3848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条结构化职位数据</a:t>
            </a:r>
          </a:p>
        </p:txBody>
      </p:sp>
      <p:sp>
        <p:nvSpPr>
          <p:cNvPr id="9" name="kpi-4">
            <a:extLst>
              <a:ext uri="{FF2B5EF4-FFF2-40B4-BE49-F238E27FC236}">
                <a16:creationId xmlns:a16="http://schemas.microsoft.com/office/drawing/2014/main" id="{8E8F0A9D-B331-4424-B1A9-15AECF09DA06}"/>
              </a:ext>
            </a:extLst>
          </p:cNvPr>
          <p:cNvSpPr>
            <a:spLocks noGrp="1"/>
          </p:cNvSpPr>
          <p:nvPr/>
        </p:nvSpPr>
        <p:spPr>
          <a:xfrm>
            <a:off x="7810500" y="2095500"/>
            <a:ext cx="4381500" cy="476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0.507</a:t>
            </a:r>
          </a:p>
        </p:txBody>
      </p:sp>
      <p:sp>
        <p:nvSpPr>
          <p:cNvPr id="10" name="kpi-4-l">
            <a:extLst>
              <a:ext uri="{FF2B5EF4-FFF2-40B4-BE49-F238E27FC236}">
                <a16:creationId xmlns:a16="http://schemas.microsoft.com/office/drawing/2014/main" id="{56F3E5A0-50F0-4FEF-B1DA-61654C4E9CFD}"/>
              </a:ext>
            </a:extLst>
          </p:cNvPr>
          <p:cNvSpPr>
            <a:spLocks noGrp="1"/>
          </p:cNvSpPr>
          <p:nvPr/>
        </p:nvSpPr>
        <p:spPr>
          <a:xfrm>
            <a:off x="7810500" y="3009900"/>
            <a:ext cx="4381500" cy="3848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薪资预测 R²</a:t>
            </a:r>
          </a:p>
        </p:txBody>
      </p:sp>
      <p:sp>
        <p:nvSpPr>
          <p:cNvPr id="11" name="next-panel">
            <a:extLst>
              <a:ext uri="{FF2B5EF4-FFF2-40B4-BE49-F238E27FC236}">
                <a16:creationId xmlns:a16="http://schemas.microsoft.com/office/drawing/2014/main" id="{4B5458A4-159E-4664-8139-1E61A6EB1E8A}"/>
              </a:ext>
            </a:extLst>
          </p:cNvPr>
          <p:cNvSpPr>
            <a:spLocks noGrp="1"/>
          </p:cNvSpPr>
          <p:nvPr/>
        </p:nvSpPr>
        <p:spPr>
          <a:xfrm>
            <a:off x="457200" y="39052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next-head">
            <a:extLst>
              <a:ext uri="{FF2B5EF4-FFF2-40B4-BE49-F238E27FC236}">
                <a16:creationId xmlns:a16="http://schemas.microsoft.com/office/drawing/2014/main" id="{DB08AD5B-B40E-4E3B-819F-4D6451955B63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11430000" cy="2667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下一步</a:t>
            </a:r>
          </a:p>
        </p:txBody>
      </p:sp>
      <p:sp>
        <p:nvSpPr>
          <p:cNvPr id="13" name="next-1">
            <a:extLst>
              <a:ext uri="{FF2B5EF4-FFF2-40B4-BE49-F238E27FC236}">
                <a16:creationId xmlns:a16="http://schemas.microsoft.com/office/drawing/2014/main" id="{1B31704E-ABEA-415F-9C78-934A7DB0E673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11430000" cy="2095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突破真实站点反爬，接入真实招聘数据</a:t>
            </a:r>
          </a:p>
        </p:txBody>
      </p:sp>
      <p:sp>
        <p:nvSpPr>
          <p:cNvPr id="14" name="next-2">
            <a:extLst>
              <a:ext uri="{FF2B5EF4-FFF2-40B4-BE49-F238E27FC236}">
                <a16:creationId xmlns:a16="http://schemas.microsoft.com/office/drawing/2014/main" id="{46FBBC4A-4B60-4B31-BEDC-0B544733979F}"/>
              </a:ext>
            </a:extLst>
          </p:cNvPr>
          <p:cNvSpPr>
            <a:spLocks noGrp="1"/>
          </p:cNvSpPr>
          <p:nvPr/>
        </p:nvSpPr>
        <p:spPr>
          <a:xfrm>
            <a:off x="6286500" y="4762500"/>
            <a:ext cx="5905500" cy="2095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自动日报上线 + 局域网部署可远程访问</a:t>
            </a:r>
          </a:p>
        </p:txBody>
      </p:sp>
      <p:sp>
        <p:nvSpPr>
          <p:cNvPr id="15" name="next-3">
            <a:extLst>
              <a:ext uri="{FF2B5EF4-FFF2-40B4-BE49-F238E27FC236}">
                <a16:creationId xmlns:a16="http://schemas.microsoft.com/office/drawing/2014/main" id="{327C7B69-05DA-483E-A2BB-9AC92606FEF3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11430000" cy="1638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沉淀期末报告与 AI 使用记录</a:t>
            </a:r>
          </a:p>
        </p:txBody>
      </p:sp>
      <p:sp>
        <p:nvSpPr>
          <p:cNvPr id="16" name="next-4">
            <a:extLst>
              <a:ext uri="{FF2B5EF4-FFF2-40B4-BE49-F238E27FC236}">
                <a16:creationId xmlns:a16="http://schemas.microsoft.com/office/drawing/2014/main" id="{85E3431E-CD02-414B-8A53-BF2413B95831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5905500" cy="1638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请各位老师提问指正</a:t>
            </a:r>
          </a:p>
        </p:txBody>
      </p:sp>
      <p:sp>
        <p:nvSpPr>
          <p:cNvPr id="17" name="footer-left">
            <a:extLst>
              <a:ext uri="{FF2B5EF4-FFF2-40B4-BE49-F238E27FC236}">
                <a16:creationId xmlns:a16="http://schemas.microsoft.com/office/drawing/2014/main" id="{226283FF-2E04-4EAF-9026-DDADA60DCAB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8" name="footer-page">
            <a:extLst>
              <a:ext uri="{FF2B5EF4-FFF2-40B4-BE49-F238E27FC236}">
                <a16:creationId xmlns:a16="http://schemas.microsoft.com/office/drawing/2014/main" id="{3D7D7702-3FF1-4ECF-964A-961D96222F0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38292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0819397A-99BA-439B-8215-862CFCAF1B45}"/>
              </a:ext>
            </a:extLst>
          </p:cNvPr>
          <p:cNvSpPr>
            <a:spLocks noGrp="1"/>
          </p:cNvSpPr>
          <p:nvPr/>
        </p:nvSpPr>
        <p:spPr>
          <a:xfrm>
            <a:off x="457200" y="-89188"/>
            <a:ext cx="11734800" cy="119610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演示视频：每位成员</a:t>
            </a:r>
            <a:r>
              <a:rPr dirty="0"/>
              <a:t> 2 </a:t>
            </a:r>
            <a:r>
              <a:rPr dirty="0" err="1"/>
              <a:t>分钟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00A0033F-D90D-43EE-B4AB-BCB1C42D2324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video-panel-0">
            <a:extLst>
              <a:ext uri="{FF2B5EF4-FFF2-40B4-BE49-F238E27FC236}">
                <a16:creationId xmlns:a16="http://schemas.microsoft.com/office/drawing/2014/main" id="{DF745E83-8C2D-4BE5-8677-AF0794BC29D2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video-icon-0">
            <a:extLst>
              <a:ext uri="{FF2B5EF4-FFF2-40B4-BE49-F238E27FC236}">
                <a16:creationId xmlns:a16="http://schemas.microsoft.com/office/drawing/2014/main" id="{2F267347-94EF-4458-AFAE-84FF69D48BBC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1506200" cy="5067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▶</a:t>
            </a:r>
          </a:p>
        </p:txBody>
      </p:sp>
      <p:sp>
        <p:nvSpPr>
          <p:cNvPr id="5" name="video-member-0">
            <a:extLst>
              <a:ext uri="{FF2B5EF4-FFF2-40B4-BE49-F238E27FC236}">
                <a16:creationId xmlns:a16="http://schemas.microsoft.com/office/drawing/2014/main" id="{475E7D94-B537-43A7-88CB-4A5A0EDFAD77}"/>
              </a:ext>
            </a:extLst>
          </p:cNvPr>
          <p:cNvSpPr>
            <a:spLocks noGrp="1"/>
          </p:cNvSpPr>
          <p:nvPr/>
        </p:nvSpPr>
        <p:spPr>
          <a:xfrm>
            <a:off x="1409700" y="1828800"/>
            <a:ext cx="10782300" cy="502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成员 A</a:t>
            </a:r>
          </a:p>
        </p:txBody>
      </p:sp>
      <p:sp>
        <p:nvSpPr>
          <p:cNvPr id="6" name="video-topic-0">
            <a:extLst>
              <a:ext uri="{FF2B5EF4-FFF2-40B4-BE49-F238E27FC236}">
                <a16:creationId xmlns:a16="http://schemas.microsoft.com/office/drawing/2014/main" id="{1428C6AD-66CB-4F83-A436-449DBA667EDD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1506200" cy="428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数据采集与清洗</a:t>
            </a:r>
          </a:p>
        </p:txBody>
      </p:sp>
      <p:sp>
        <p:nvSpPr>
          <p:cNvPr id="7" name="video-note-0">
            <a:extLst>
              <a:ext uri="{FF2B5EF4-FFF2-40B4-BE49-F238E27FC236}">
                <a16:creationId xmlns:a16="http://schemas.microsoft.com/office/drawing/2014/main" id="{7936B5A9-2F54-4E07-8A53-81ED7BBA6689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15062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视频占位（mp4 · 800×600）</a:t>
            </a:r>
          </a:p>
        </p:txBody>
      </p:sp>
      <p:sp>
        <p:nvSpPr>
          <p:cNvPr id="8" name="video-panel-1">
            <a:extLst>
              <a:ext uri="{FF2B5EF4-FFF2-40B4-BE49-F238E27FC236}">
                <a16:creationId xmlns:a16="http://schemas.microsoft.com/office/drawing/2014/main" id="{445DA07F-36B9-444E-827D-BEFDD44A8454}"/>
              </a:ext>
            </a:extLst>
          </p:cNvPr>
          <p:cNvSpPr>
            <a:spLocks noGrp="1"/>
          </p:cNvSpPr>
          <p:nvPr/>
        </p:nvSpPr>
        <p:spPr>
          <a:xfrm>
            <a:off x="4343400" y="15240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video-icon-1">
            <a:extLst>
              <a:ext uri="{FF2B5EF4-FFF2-40B4-BE49-F238E27FC236}">
                <a16:creationId xmlns:a16="http://schemas.microsoft.com/office/drawing/2014/main" id="{80722765-47A9-4931-916A-8F3C7539C93A}"/>
              </a:ext>
            </a:extLst>
          </p:cNvPr>
          <p:cNvSpPr>
            <a:spLocks noGrp="1"/>
          </p:cNvSpPr>
          <p:nvPr/>
        </p:nvSpPr>
        <p:spPr>
          <a:xfrm>
            <a:off x="4572000" y="1790700"/>
            <a:ext cx="7620000" cy="5067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▶</a:t>
            </a:r>
          </a:p>
        </p:txBody>
      </p:sp>
      <p:sp>
        <p:nvSpPr>
          <p:cNvPr id="10" name="video-member-1">
            <a:extLst>
              <a:ext uri="{FF2B5EF4-FFF2-40B4-BE49-F238E27FC236}">
                <a16:creationId xmlns:a16="http://schemas.microsoft.com/office/drawing/2014/main" id="{68518D9A-A777-42F0-BC8D-87D2177A2BCE}"/>
              </a:ext>
            </a:extLst>
          </p:cNvPr>
          <p:cNvSpPr>
            <a:spLocks noGrp="1"/>
          </p:cNvSpPr>
          <p:nvPr/>
        </p:nvSpPr>
        <p:spPr>
          <a:xfrm>
            <a:off x="5295900" y="1828800"/>
            <a:ext cx="6896100" cy="502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成员 B</a:t>
            </a:r>
          </a:p>
        </p:txBody>
      </p:sp>
      <p:sp>
        <p:nvSpPr>
          <p:cNvPr id="11" name="video-topic-1">
            <a:extLst>
              <a:ext uri="{FF2B5EF4-FFF2-40B4-BE49-F238E27FC236}">
                <a16:creationId xmlns:a16="http://schemas.microsoft.com/office/drawing/2014/main" id="{25059908-8389-4330-AAFC-FCBC4F127FC6}"/>
              </a:ext>
            </a:extLst>
          </p:cNvPr>
          <p:cNvSpPr>
            <a:spLocks noGrp="1"/>
          </p:cNvSpPr>
          <p:nvPr/>
        </p:nvSpPr>
        <p:spPr>
          <a:xfrm>
            <a:off x="4572000" y="2571750"/>
            <a:ext cx="7620000" cy="428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数据存储与质量</a:t>
            </a:r>
          </a:p>
        </p:txBody>
      </p:sp>
      <p:sp>
        <p:nvSpPr>
          <p:cNvPr id="12" name="video-note-1">
            <a:extLst>
              <a:ext uri="{FF2B5EF4-FFF2-40B4-BE49-F238E27FC236}">
                <a16:creationId xmlns:a16="http://schemas.microsoft.com/office/drawing/2014/main" id="{A4D1EB61-8C77-453D-BB32-9473F4361A95}"/>
              </a:ext>
            </a:extLst>
          </p:cNvPr>
          <p:cNvSpPr>
            <a:spLocks noGrp="1"/>
          </p:cNvSpPr>
          <p:nvPr/>
        </p:nvSpPr>
        <p:spPr>
          <a:xfrm>
            <a:off x="4572000" y="3048000"/>
            <a:ext cx="76200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视频占位（mp4 · 800×600）</a:t>
            </a:r>
          </a:p>
        </p:txBody>
      </p:sp>
      <p:sp>
        <p:nvSpPr>
          <p:cNvPr id="13" name="video-panel-2">
            <a:extLst>
              <a:ext uri="{FF2B5EF4-FFF2-40B4-BE49-F238E27FC236}">
                <a16:creationId xmlns:a16="http://schemas.microsoft.com/office/drawing/2014/main" id="{C84638B9-DC95-4F43-B2BD-FF770E8B3709}"/>
              </a:ext>
            </a:extLst>
          </p:cNvPr>
          <p:cNvSpPr>
            <a:spLocks noGrp="1"/>
          </p:cNvSpPr>
          <p:nvPr/>
        </p:nvSpPr>
        <p:spPr>
          <a:xfrm>
            <a:off x="8229600" y="15240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video-icon-2">
            <a:extLst>
              <a:ext uri="{FF2B5EF4-FFF2-40B4-BE49-F238E27FC236}">
                <a16:creationId xmlns:a16="http://schemas.microsoft.com/office/drawing/2014/main" id="{F5A684DD-34F2-4932-96C8-66B2FDAC08C5}"/>
              </a:ext>
            </a:extLst>
          </p:cNvPr>
          <p:cNvSpPr>
            <a:spLocks noGrp="1"/>
          </p:cNvSpPr>
          <p:nvPr/>
        </p:nvSpPr>
        <p:spPr>
          <a:xfrm>
            <a:off x="8458200" y="1790700"/>
            <a:ext cx="3733800" cy="5067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▶</a:t>
            </a:r>
          </a:p>
        </p:txBody>
      </p:sp>
      <p:sp>
        <p:nvSpPr>
          <p:cNvPr id="15" name="video-member-2">
            <a:extLst>
              <a:ext uri="{FF2B5EF4-FFF2-40B4-BE49-F238E27FC236}">
                <a16:creationId xmlns:a16="http://schemas.microsoft.com/office/drawing/2014/main" id="{2A746BC8-7BC7-4DF9-B394-EBB2D73DF1F9}"/>
              </a:ext>
            </a:extLst>
          </p:cNvPr>
          <p:cNvSpPr>
            <a:spLocks noGrp="1"/>
          </p:cNvSpPr>
          <p:nvPr/>
        </p:nvSpPr>
        <p:spPr>
          <a:xfrm>
            <a:off x="9182100" y="1828800"/>
            <a:ext cx="3009900" cy="502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成员 C</a:t>
            </a:r>
          </a:p>
        </p:txBody>
      </p:sp>
      <p:sp>
        <p:nvSpPr>
          <p:cNvPr id="16" name="video-topic-2">
            <a:extLst>
              <a:ext uri="{FF2B5EF4-FFF2-40B4-BE49-F238E27FC236}">
                <a16:creationId xmlns:a16="http://schemas.microsoft.com/office/drawing/2014/main" id="{AC364B41-825B-476C-8AB2-7331CF850DF7}"/>
              </a:ext>
            </a:extLst>
          </p:cNvPr>
          <p:cNvSpPr>
            <a:spLocks noGrp="1"/>
          </p:cNvSpPr>
          <p:nvPr/>
        </p:nvSpPr>
        <p:spPr>
          <a:xfrm>
            <a:off x="8458200" y="2571750"/>
            <a:ext cx="3733800" cy="428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推荐与薪资预测</a:t>
            </a:r>
          </a:p>
        </p:txBody>
      </p:sp>
      <p:sp>
        <p:nvSpPr>
          <p:cNvPr id="17" name="video-note-2">
            <a:extLst>
              <a:ext uri="{FF2B5EF4-FFF2-40B4-BE49-F238E27FC236}">
                <a16:creationId xmlns:a16="http://schemas.microsoft.com/office/drawing/2014/main" id="{B9215F1E-BAE5-44FA-BF2A-5E19A2C7BE98}"/>
              </a:ext>
            </a:extLst>
          </p:cNvPr>
          <p:cNvSpPr>
            <a:spLocks noGrp="1"/>
          </p:cNvSpPr>
          <p:nvPr/>
        </p:nvSpPr>
        <p:spPr>
          <a:xfrm>
            <a:off x="8458200" y="3048000"/>
            <a:ext cx="37338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视频占位（mp4 · 800×600）</a:t>
            </a:r>
          </a:p>
        </p:txBody>
      </p:sp>
      <p:sp>
        <p:nvSpPr>
          <p:cNvPr id="18" name="video-panel-3">
            <a:extLst>
              <a:ext uri="{FF2B5EF4-FFF2-40B4-BE49-F238E27FC236}">
                <a16:creationId xmlns:a16="http://schemas.microsoft.com/office/drawing/2014/main" id="{477EED72-EB11-4EBC-B067-68B338121246}"/>
              </a:ext>
            </a:extLst>
          </p:cNvPr>
          <p:cNvSpPr>
            <a:spLocks noGrp="1"/>
          </p:cNvSpPr>
          <p:nvPr/>
        </p:nvSpPr>
        <p:spPr>
          <a:xfrm>
            <a:off x="457200" y="39052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video-icon-3">
            <a:extLst>
              <a:ext uri="{FF2B5EF4-FFF2-40B4-BE49-F238E27FC236}">
                <a16:creationId xmlns:a16="http://schemas.microsoft.com/office/drawing/2014/main" id="{9F632F0B-D67E-42B0-967F-68EEB9B3442F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1506200" cy="2686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▶</a:t>
            </a:r>
          </a:p>
        </p:txBody>
      </p:sp>
      <p:sp>
        <p:nvSpPr>
          <p:cNvPr id="20" name="video-member-3">
            <a:extLst>
              <a:ext uri="{FF2B5EF4-FFF2-40B4-BE49-F238E27FC236}">
                <a16:creationId xmlns:a16="http://schemas.microsoft.com/office/drawing/2014/main" id="{5E160388-A6A3-494A-B855-245826AFBBAE}"/>
              </a:ext>
            </a:extLst>
          </p:cNvPr>
          <p:cNvSpPr>
            <a:spLocks noGrp="1"/>
          </p:cNvSpPr>
          <p:nvPr/>
        </p:nvSpPr>
        <p:spPr>
          <a:xfrm>
            <a:off x="1409700" y="4210050"/>
            <a:ext cx="10782300" cy="2647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成员 D</a:t>
            </a:r>
          </a:p>
        </p:txBody>
      </p:sp>
      <p:sp>
        <p:nvSpPr>
          <p:cNvPr id="21" name="video-topic-3">
            <a:extLst>
              <a:ext uri="{FF2B5EF4-FFF2-40B4-BE49-F238E27FC236}">
                <a16:creationId xmlns:a16="http://schemas.microsoft.com/office/drawing/2014/main" id="{F96B69DF-7059-4027-B932-7195C832CCED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1506200" cy="190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聚类、图谱与前端</a:t>
            </a:r>
          </a:p>
        </p:txBody>
      </p:sp>
      <p:sp>
        <p:nvSpPr>
          <p:cNvPr id="22" name="video-note-3">
            <a:extLst>
              <a:ext uri="{FF2B5EF4-FFF2-40B4-BE49-F238E27FC236}">
                <a16:creationId xmlns:a16="http://schemas.microsoft.com/office/drawing/2014/main" id="{F03D80AB-823E-4B21-A95B-167E93254DC2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1506200" cy="142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视频占位（mp4 · 800×600）</a:t>
            </a:r>
          </a:p>
        </p:txBody>
      </p:sp>
      <p:sp>
        <p:nvSpPr>
          <p:cNvPr id="23" name="video-panel-4">
            <a:extLst>
              <a:ext uri="{FF2B5EF4-FFF2-40B4-BE49-F238E27FC236}">
                <a16:creationId xmlns:a16="http://schemas.microsoft.com/office/drawing/2014/main" id="{48453997-D3E3-4EAC-88F6-F4E7702ECA44}"/>
              </a:ext>
            </a:extLst>
          </p:cNvPr>
          <p:cNvSpPr>
            <a:spLocks noGrp="1"/>
          </p:cNvSpPr>
          <p:nvPr/>
        </p:nvSpPr>
        <p:spPr>
          <a:xfrm>
            <a:off x="4343400" y="39052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video-icon-4">
            <a:extLst>
              <a:ext uri="{FF2B5EF4-FFF2-40B4-BE49-F238E27FC236}">
                <a16:creationId xmlns:a16="http://schemas.microsoft.com/office/drawing/2014/main" id="{940FA142-E585-4420-9B33-3C1A4BCC30E7}"/>
              </a:ext>
            </a:extLst>
          </p:cNvPr>
          <p:cNvSpPr>
            <a:spLocks noGrp="1"/>
          </p:cNvSpPr>
          <p:nvPr/>
        </p:nvSpPr>
        <p:spPr>
          <a:xfrm>
            <a:off x="4572000" y="4171950"/>
            <a:ext cx="7620000" cy="2686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▶</a:t>
            </a:r>
          </a:p>
        </p:txBody>
      </p:sp>
      <p:sp>
        <p:nvSpPr>
          <p:cNvPr id="25" name="video-member-4">
            <a:extLst>
              <a:ext uri="{FF2B5EF4-FFF2-40B4-BE49-F238E27FC236}">
                <a16:creationId xmlns:a16="http://schemas.microsoft.com/office/drawing/2014/main" id="{D8E3FBE4-EF5F-4EA1-B000-A258F0F7478F}"/>
              </a:ext>
            </a:extLst>
          </p:cNvPr>
          <p:cNvSpPr>
            <a:spLocks noGrp="1"/>
          </p:cNvSpPr>
          <p:nvPr/>
        </p:nvSpPr>
        <p:spPr>
          <a:xfrm>
            <a:off x="5295900" y="4210050"/>
            <a:ext cx="6896100" cy="2647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组长</a:t>
            </a:r>
          </a:p>
        </p:txBody>
      </p:sp>
      <p:sp>
        <p:nvSpPr>
          <p:cNvPr id="26" name="video-topic-4">
            <a:extLst>
              <a:ext uri="{FF2B5EF4-FFF2-40B4-BE49-F238E27FC236}">
                <a16:creationId xmlns:a16="http://schemas.microsoft.com/office/drawing/2014/main" id="{07EE50E2-F0E2-4E34-8720-DCE5D5132E09}"/>
              </a:ext>
            </a:extLst>
          </p:cNvPr>
          <p:cNvSpPr>
            <a:spLocks noGrp="1"/>
          </p:cNvSpPr>
          <p:nvPr/>
        </p:nvSpPr>
        <p:spPr>
          <a:xfrm>
            <a:off x="4572000" y="4953000"/>
            <a:ext cx="7620000" cy="190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总体演示与协作</a:t>
            </a:r>
          </a:p>
        </p:txBody>
      </p:sp>
      <p:sp>
        <p:nvSpPr>
          <p:cNvPr id="27" name="video-note-4">
            <a:extLst>
              <a:ext uri="{FF2B5EF4-FFF2-40B4-BE49-F238E27FC236}">
                <a16:creationId xmlns:a16="http://schemas.microsoft.com/office/drawing/2014/main" id="{FE3A94AA-60F7-4EC7-BB54-2C8ADC6DCBFA}"/>
              </a:ext>
            </a:extLst>
          </p:cNvPr>
          <p:cNvSpPr>
            <a:spLocks noGrp="1"/>
          </p:cNvSpPr>
          <p:nvPr/>
        </p:nvSpPr>
        <p:spPr>
          <a:xfrm>
            <a:off x="4572000" y="5429250"/>
            <a:ext cx="7620000" cy="142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视频占位（mp4 · 800×600）</a:t>
            </a:r>
          </a:p>
        </p:txBody>
      </p:sp>
      <p:sp>
        <p:nvSpPr>
          <p:cNvPr id="28" name="video-caption">
            <a:extLst>
              <a:ext uri="{FF2B5EF4-FFF2-40B4-BE49-F238E27FC236}">
                <a16:creationId xmlns:a16="http://schemas.microsoft.com/office/drawing/2014/main" id="{75F66057-1044-486B-820F-DAC73CA889E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73480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答辩前将五位成员的录屏分别替换到对应位置；视频外还准备了各模块演示脚本与踩坑讲解</a:t>
            </a:r>
          </a:p>
        </p:txBody>
      </p:sp>
      <p:sp>
        <p:nvSpPr>
          <p:cNvPr id="29" name="footer-left">
            <a:extLst>
              <a:ext uri="{FF2B5EF4-FFF2-40B4-BE49-F238E27FC236}">
                <a16:creationId xmlns:a16="http://schemas.microsoft.com/office/drawing/2014/main" id="{E2295A93-0CE8-4C80-BB58-D91143CBC64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30" name="footer-page">
            <a:extLst>
              <a:ext uri="{FF2B5EF4-FFF2-40B4-BE49-F238E27FC236}">
                <a16:creationId xmlns:a16="http://schemas.microsoft.com/office/drawing/2014/main" id="{4F0CFCCB-2703-434E-8047-37EB27896CC2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449445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Microsoft Office PowerPoint</Application>
  <DocSecurity>0</DocSecurity>
  <PresentationFormat>宽屏</PresentationFormat>
  <Paragraphs>277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dixiang wu</cp:lastModifiedBy>
  <cp:revision>1</cp:revision>
  <dcterms:created xsi:type="dcterms:W3CDTF">2026-08-30T07:55:01Z</dcterms:created>
  <dcterms:modified xsi:type="dcterms:W3CDTF">2026-08-31T07:19:07Z</dcterms:modified>
</cp:coreProperties>
</file>